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C08F1109-5DBA-1CE7-F47C-5310F1C03471}">
          <p14:sldIdLst/>
        </p14:section>
        <p14:section name="概述" id="{89018564-F4D8-127C-F528-6E3B21B937DA}">
          <p14:sldIdLst>
            <p14:sldId id="257"/>
          </p14:sldIdLst>
        </p14:section>
        <p14:section name="原理与问题" id="{43752D7C-9062-80A8-AB4B-197E7D45DAE0}">
          <p14:sldIdLst>
            <p14:sldId id="258"/>
            <p14:sldId id="259"/>
          </p14:sldIdLst>
        </p14:section>
        <p14:section name="改进方法" id="{98BE9450-0626-0FCC-1BF6-E85031911287}">
          <p14:sldIdLst>
            <p14:sldId id="260"/>
            <p14:sldId id="261"/>
            <p14:sldId id="262"/>
            <p14:sldId id="263"/>
          </p14:sldIdLst>
        </p14:section>
        <p14:section name="评估与结果" id="{0AA75BF8-B269-6C6D-842F-2EA22FF8D36A}">
          <p14:sldIdLst>
            <p14:sldId id="264"/>
            <p14:sldId id="265"/>
            <p14:sldId id="266"/>
            <p14:sldId id="267"/>
          </p14:sldIdLst>
        </p14:section>
        <p14:section name="总结" id="{A31EDD52-789A-743B-EA78-22A227E26C45}">
          <p14:sldIdLst>
            <p14:sldId id="2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300" b="0" i="0" u="none" strike="noStrike" kern="1200" baseline="0">
                <a:solidFill>
                  <a:srgbClr val="1A1A1A"/>
                </a:solidFill>
                <a:latin typeface="+mn-lt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+mn-lt"/>
              </a:rPr>
              <a:t>剔除的 108 条问题数据，按原因</a:t>
            </a:r>
            <a:endParaRPr sz="1300" b="0" i="0" u="none" strike="noStrike">
              <a:solidFill>
                <a:srgbClr val="1A1A1A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剔除条数</c:v>
                </c:pt>
              </c:strCache>
            </c:strRef>
          </c:tx>
          <c:spPr>
            <a:solidFill>
              <a:srgbClr val="2D3E6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其他（字典外音素等）</c:v>
                </c:pt>
                <c:pt idx="1">
                  <c:v>标注没覆盖到的歌声</c:v>
                </c:pt>
                <c:pt idx="2">
                  <c:v>标注文件为空</c:v>
                </c:pt>
                <c:pt idx="3">
                  <c:v>标注错位</c:v>
                </c:pt>
                <c:pt idx="4">
                  <c:v>没有标注文件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3</c:v>
                </c:pt>
                <c:pt idx="2">
                  <c:v>13</c:v>
                </c:pt>
                <c:pt idx="3">
                  <c:v>16</c:v>
                </c:pt>
                <c:pt idx="4">
                  <c:v>70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</c:scaling>
        <c:delete val="0"/>
        <c:axPos val="b"/>
        <c:majorGridlines>
          <c:spPr>
            <a:ln w="9525" cap="flat" cmpd="sng" algn="ctr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6274bdb8-6136-43a8-8b92-969a3eb5aad5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300" b="0" i="0" u="none" strike="noStrike" kern="1200" baseline="0">
                <a:solidFill>
                  <a:srgbClr val="1A1A1A"/>
                </a:solidFill>
                <a:latin typeface="+mn-lt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+mn-lt"/>
              </a:rPr>
              <a:t>验证集损失随训练轮次（epoch）变化</a:t>
            </a:r>
            <a:endParaRPr sz="1300" b="0" i="0" u="none" strike="noStrike">
              <a:solidFill>
                <a:srgbClr val="1A1A1A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验证损失</c:v>
                </c:pt>
              </c:strCache>
            </c:strRef>
          </c:tx>
          <c:spPr>
            <a:ln w="25400" cap="flat" cmpd="sng" algn="ctr">
              <a:solidFill>
                <a:srgbClr val="2D3E68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2D3E68"/>
              </a:solidFill>
              <a:ln w="9525" cap="flat" cmpd="sng" algn="ctr">
                <a:solidFill>
                  <a:srgbClr val="2D3E68"/>
                </a:solidFill>
                <a:prstDash val="solid"/>
                <a:round/>
              </a:ln>
              <a:effectLst/>
            </c:spPr>
          </c:marker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1.172</c:v>
                </c:pt>
                <c:pt idx="1">
                  <c:v>1.098</c:v>
                </c:pt>
                <c:pt idx="2">
                  <c:v>1.062</c:v>
                </c:pt>
                <c:pt idx="3">
                  <c:v>1.058</c:v>
                </c:pt>
                <c:pt idx="4">
                  <c:v>1.047</c:v>
                </c:pt>
                <c:pt idx="5">
                  <c:v>1.047</c:v>
                </c:pt>
                <c:pt idx="6">
                  <c:v>1.063</c:v>
                </c:pt>
                <c:pt idx="7">
                  <c:v>1.075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100" b="0" i="0" u="none" strike="noStrike" kern="1200" baseline="0">
                    <a:solidFill>
                      <a:srgbClr val="595959"/>
                    </a:solidFill>
                    <a:latin typeface="Arial" panose="020B0604020202090204"/>
                    <a:ea typeface="+mn-ea"/>
                    <a:cs typeface="+mn-cs"/>
                  </a:defRPr>
                </a:pPr>
                <a:r>
                  <a:rPr sz="1100" b="0" i="0" u="none" strike="noStrike">
                    <a:solidFill>
                      <a:srgbClr val="595959"/>
                    </a:solidFill>
                    <a:latin typeface="Arial" panose="020B0604020202090204"/>
                  </a:rPr>
                  <a:t>训练轮次</a:t>
                </a:r>
                <a:endParaRPr sz="1100" b="0" i="0" u="none" strike="noStrike">
                  <a:solidFill>
                    <a:srgbClr val="595959"/>
                  </a:solidFill>
                  <a:latin typeface="Arial" panose="020B0604020202090204"/>
                </a:endParaRP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8"/>
          <c:min val="1.04"/>
        </c:scaling>
        <c:delete val="0"/>
        <c:axPos val="l"/>
        <c:majorGridlines>
          <c:spPr>
            <a:ln w="9525" cap="flat" cmpd="sng" algn="ctr">
              <a:solidFill>
                <a:srgbClr val="E5E5E5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0.04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bb146965-deee-4f13-b538-105f752b5d8c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300" b="0" i="0" u="none" strike="noStrike" kern="1200" baseline="0">
                <a:solidFill>
                  <a:srgbClr val="1A1A1A"/>
                </a:solidFill>
                <a:latin typeface="+mn-lt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+mn-lt"/>
              </a:rPr>
              <a:t>三个版本与原唱（单次生成的平均）</a:t>
            </a:r>
            <a:endParaRPr sz="1300" b="0" i="0" u="none" strike="noStrike">
              <a:solidFill>
                <a:srgbClr val="1A1A1A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停顿深度 (dB)</c:v>
                </c:pt>
              </c:strCache>
            </c:strRef>
          </c:tx>
          <c:spPr>
            <a:solidFill>
              <a:srgbClr val="2D3E6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原唱</c:v>
                </c:pt>
                <c:pt idx="1">
                  <c:v>版本一</c:v>
                </c:pt>
                <c:pt idx="2">
                  <c:v>版本二</c:v>
                </c:pt>
                <c:pt idx="3">
                  <c:v>版本三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</c:v>
                </c:pt>
                <c:pt idx="1">
                  <c:v>15.9</c:v>
                </c:pt>
                <c:pt idx="2">
                  <c:v>16.1</c:v>
                </c:pt>
                <c:pt idx="3">
                  <c:v>21.2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辅音字头凹陷 (dB)</c:v>
                </c:pt>
              </c:strCache>
            </c:strRef>
          </c:tx>
          <c:spPr>
            <a:solidFill>
              <a:srgbClr val="9E3527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原唱</c:v>
                </c:pt>
                <c:pt idx="1">
                  <c:v>版本一</c:v>
                </c:pt>
                <c:pt idx="2">
                  <c:v>版本二</c:v>
                </c:pt>
                <c:pt idx="3">
                  <c:v>版本三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16.6</c:v>
                </c:pt>
                <c:pt idx="1">
                  <c:v>8.7</c:v>
                </c:pt>
                <c:pt idx="2">
                  <c:v>10</c:v>
                </c:pt>
                <c:pt idx="3">
                  <c:v>10.2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9525" cap="flat" cmpd="sng" algn="ctr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100" b="0" i="0" u="none" strike="noStrike" kern="1200" baseline="0">
              <a:solidFill>
                <a:srgbClr val="595959"/>
              </a:solidFill>
              <a:latin typeface="+mn-lt"/>
              <a:ea typeface="+mn-ea"/>
              <a:cs typeface="+mn-lt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18b2012f-6240-4eca-abe2-b82bb10479e1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300" b="0" i="0" u="none" strike="noStrike" kern="1200" baseline="0">
                <a:solidFill>
                  <a:srgbClr val="1A1A1A"/>
                </a:solidFill>
                <a:latin typeface="+mn-lt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+mn-lt"/>
              </a:rPr>
              <a:t>音高误差在 50 音分内的帧比例（12 段没见过的录音）</a:t>
            </a:r>
            <a:endParaRPr sz="1300" b="0" i="0" u="none" strike="noStrike">
              <a:solidFill>
                <a:srgbClr val="1A1A1A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50 音分内帧比例</c:v>
                </c:pt>
              </c:strCache>
            </c:strRef>
          </c:tx>
          <c:spPr>
            <a:solidFill>
              <a:srgbClr val="2D3E68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微调后声码器（3 层码）</c:v>
                </c:pt>
                <c:pt idx="1">
                  <c:v>编解码器自带解码（8 层码）</c:v>
                </c:pt>
                <c:pt idx="2">
                  <c:v>编解码器自带解码（3 层码）</c:v>
                </c:pt>
                <c:pt idx="3">
                  <c:v>原声码器（3 层码）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87.2</c:v>
                </c:pt>
                <c:pt idx="1">
                  <c:v>87.1</c:v>
                </c:pt>
                <c:pt idx="2">
                  <c:v>82.2</c:v>
                </c:pt>
                <c:pt idx="3">
                  <c:v>76.3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9525" cap="flat" cmpd="sng" algn="ctr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c792e43-e05d-434a-ae47-d372bec429c2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300" b="0" i="0" u="none" strike="noStrike" kern="1200" baseline="0">
                <a:solidFill>
                  <a:srgbClr val="1A1A1A"/>
                </a:solidFill>
                <a:latin typeface="+mn-lt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+mn-lt"/>
              </a:rPr>
              <a:t>版本三 3 选 1（17 句 × 3 次）</a:t>
            </a:r>
            <a:endParaRPr sz="1300" b="0" i="0" u="none" strike="noStrike">
              <a:solidFill>
                <a:srgbClr val="1A1A1A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停顿深度 (dB)</c:v>
                </c:pt>
              </c:strCache>
            </c:strRef>
          </c:tx>
          <c:spPr>
            <a:solidFill>
              <a:srgbClr val="2D3E6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被淘汰的一次</c:v>
                </c:pt>
                <c:pt idx="1">
                  <c:v>平均一次</c:v>
                </c:pt>
                <c:pt idx="2">
                  <c:v>挑出的一次</c:v>
                </c:pt>
                <c:pt idx="3">
                  <c:v>原唱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11.2</c:v>
                </c:pt>
                <c:pt idx="1">
                  <c:v>21.3</c:v>
                </c:pt>
                <c:pt idx="2">
                  <c:v>33.1</c:v>
                </c:pt>
                <c:pt idx="3">
                  <c:v>40.7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辅音字头凹陷 (dB)</c:v>
                </c:pt>
              </c:strCache>
            </c:strRef>
          </c:tx>
          <c:spPr>
            <a:solidFill>
              <a:srgbClr val="9E3527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rgbClr val="1A1A1A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被淘汰的一次</c:v>
                </c:pt>
                <c:pt idx="1">
                  <c:v>平均一次</c:v>
                </c:pt>
                <c:pt idx="2">
                  <c:v>挑出的一次</c:v>
                </c:pt>
                <c:pt idx="3">
                  <c:v>原唱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6.3</c:v>
                </c:pt>
                <c:pt idx="1">
                  <c:v>9.9</c:v>
                </c:pt>
                <c:pt idx="2">
                  <c:v>13.1</c:v>
                </c:pt>
                <c:pt idx="3">
                  <c:v>16.6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9525" cap="flat" cmpd="sng" algn="ctr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100" b="0" i="0" u="none" strike="noStrike" kern="1200" baseline="0">
              <a:solidFill>
                <a:srgbClr val="595959"/>
              </a:solidFill>
              <a:latin typeface="+mn-lt"/>
              <a:ea typeface="+mn-ea"/>
              <a:cs typeface="+mn-lt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a75d425-31d5-48af-b2e9-686f943ece5c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2011680"/>
            <a:ext cx="10698480" cy="118872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731520" y="3291840"/>
            <a:ext cx="10698480" cy="64008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京剧老生唱腔生成改进 · 项目汇报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1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1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1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1" Type="http://schemas.openxmlformats.org/officeDocument/2006/relationships/chart" Target="../charts/char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问题、做法与结果</a:t>
            </a:r>
            <a:endParaRPr lang="en-US" sz="2800" dirty="0"/>
          </a:p>
        </p:txBody>
      </p:sp>
      <p:sp>
        <p:nvSpPr>
          <p:cNvPr id="3" name="summary text"/>
          <p:cNvSpPr txBox="1"/>
          <p:nvPr/>
        </p:nvSpPr>
        <p:spPr>
          <a:xfrm>
            <a:off x="548640" y="1234440"/>
            <a:ext cx="6400800" cy="4937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问题　</a:t>
            </a:r>
            <a:r>
              <a:rPr lang="en-US" sz="1400" dirty="0">
                <a:solidFill>
                  <a:schemeClr val="tx1"/>
                </a:solidFill>
              </a:rPr>
              <a:t>PromptSinger 生成的京剧唱腔在字与字之间经常掉音，拖腔、滑音不连贯，像中间有一个个小坑。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根因　</a:t>
            </a:r>
            <a:r>
              <a:rPr lang="en-US" sz="1400" dirty="0">
                <a:solidFill>
                  <a:schemeClr val="tx1"/>
                </a:solidFill>
              </a:rPr>
              <a:t>训练标注把字间空白一律标成静音（SP），而京剧拖腔在这些空白里往往还在唱：46% 的 SP 帧实际有声，模型学到的“静音”含义是混乱的。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做法　</a:t>
            </a:r>
            <a:r>
              <a:rPr lang="en-US" sz="1400" dirty="0">
                <a:solidFill>
                  <a:schemeClr val="tx1"/>
                </a:solidFill>
              </a:rPr>
              <a:t>① 修补标注、重建数据（1903 条，3.82 小时）；② 在新数据上整体微调；③ 借鉴 LeVo2 加局部细化模块；④ 建立多次采样 + 置信区间的评估；⑤ 微调声码器；⑥ 多次生成自动挑选；⑦ 尝试 DPO 偏好对齐。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结果　</a:t>
            </a:r>
            <a:r>
              <a:rPr lang="en-US" sz="1400" dirty="0">
                <a:solidFill>
                  <a:schemeClr val="tx1"/>
                </a:solidFill>
              </a:rPr>
              <a:t>数据修补与微调消除了字间能量坑；声码器微调把音高还原准确率从 76% 提到 87%；多次生成挑选在不训练的情况下让停顿和字头明显更接近原唱。LeVo2 式模块和一轮 DPO 在当前数据规模下没有可测收益。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推荐　</a:t>
            </a:r>
            <a:r>
              <a:rPr lang="en-US" sz="1400" dirty="0">
                <a:solidFill>
                  <a:schemeClr val="tx1"/>
                </a:solidFill>
              </a:rPr>
              <a:t>版本三模型 + 京剧微调声码器 + 每句生成三次自动挑选，全部可在本机运行。</a:t>
            </a:r>
            <a:endParaRPr lang="en-US" sz="1400" dirty="0"/>
          </a:p>
        </p:txBody>
      </p:sp>
      <p:sp>
        <p:nvSpPr>
          <p:cNvPr id="4" name="stat sp number"/>
          <p:cNvSpPr txBox="1"/>
          <p:nvPr/>
        </p:nvSpPr>
        <p:spPr>
          <a:xfrm>
            <a:off x="7498080" y="1280160"/>
            <a:ext cx="20116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</a:rPr>
              <a:t>46%</a:t>
            </a:r>
            <a:endParaRPr lang="en-US" sz="3600" dirty="0"/>
          </a:p>
        </p:txBody>
      </p:sp>
      <p:sp>
        <p:nvSpPr>
          <p:cNvPr id="5" name="stat sp label"/>
          <p:cNvSpPr txBox="1"/>
          <p:nvPr/>
        </p:nvSpPr>
        <p:spPr>
          <a:xfrm>
            <a:off x="7498080" y="2011680"/>
            <a:ext cx="20116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标成静音的帧其实在唱，字间小坑的根源</a:t>
            </a:r>
            <a:endParaRPr lang="en-US" sz="1300" dirty="0"/>
          </a:p>
        </p:txBody>
      </p:sp>
      <p:sp>
        <p:nvSpPr>
          <p:cNvPr id="6" name="stat data number"/>
          <p:cNvSpPr txBox="1"/>
          <p:nvPr/>
        </p:nvSpPr>
        <p:spPr>
          <a:xfrm>
            <a:off x="9692640" y="1280160"/>
            <a:ext cx="20116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</a:rPr>
              <a:t>1903</a:t>
            </a:r>
            <a:endParaRPr lang="en-US" sz="3600" dirty="0"/>
          </a:p>
        </p:txBody>
      </p:sp>
      <p:sp>
        <p:nvSpPr>
          <p:cNvPr id="7" name="stat data label"/>
          <p:cNvSpPr txBox="1"/>
          <p:nvPr/>
        </p:nvSpPr>
        <p:spPr>
          <a:xfrm>
            <a:off x="9692640" y="2011680"/>
            <a:ext cx="20116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整理后的训练数据条数，共 3.82 小时</a:t>
            </a:r>
            <a:endParaRPr lang="en-US" sz="1300" dirty="0"/>
          </a:p>
        </p:txBody>
      </p:sp>
      <p:sp>
        <p:nvSpPr>
          <p:cNvPr id="8" name="stat vocoder number"/>
          <p:cNvSpPr txBox="1"/>
          <p:nvPr/>
        </p:nvSpPr>
        <p:spPr>
          <a:xfrm>
            <a:off x="7498080" y="3200400"/>
            <a:ext cx="20116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</a:rPr>
              <a:t>87%</a:t>
            </a:r>
            <a:endParaRPr lang="en-US" sz="3600" dirty="0"/>
          </a:p>
        </p:txBody>
      </p:sp>
      <p:sp>
        <p:nvSpPr>
          <p:cNvPr id="9" name="stat vocoder label"/>
          <p:cNvSpPr txBox="1"/>
          <p:nvPr/>
        </p:nvSpPr>
        <p:spPr>
          <a:xfrm>
            <a:off x="7498080" y="3931920"/>
            <a:ext cx="20116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声码器微调后音高误差 50 音分内的帧比例（原 76%）</a:t>
            </a:r>
            <a:endParaRPr lang="en-US" sz="1300" dirty="0"/>
          </a:p>
        </p:txBody>
      </p:sp>
      <p:sp>
        <p:nvSpPr>
          <p:cNvPr id="10" name="stat best number"/>
          <p:cNvSpPr txBox="1"/>
          <p:nvPr/>
        </p:nvSpPr>
        <p:spPr>
          <a:xfrm>
            <a:off x="9692640" y="3200400"/>
            <a:ext cx="20116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</a:rPr>
              <a:t>33 dB</a:t>
            </a:r>
            <a:endParaRPr lang="en-US" sz="3600" dirty="0"/>
          </a:p>
        </p:txBody>
      </p:sp>
      <p:sp>
        <p:nvSpPr>
          <p:cNvPr id="11" name="stat best label"/>
          <p:cNvSpPr txBox="1"/>
          <p:nvPr/>
        </p:nvSpPr>
        <p:spPr>
          <a:xfrm>
            <a:off x="9692640" y="3931920"/>
            <a:ext cx="20116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3 选 1 后的停顿深度（单次约 21 dB，原唱 41 dB）</a:t>
            </a:r>
            <a:endParaRPr lang="en-US" sz="1300" dirty="0"/>
          </a:p>
        </p:txBody>
      </p:sp>
      <p:sp>
        <p:nvSpPr>
          <p:cNvPr id="12" name="stat note"/>
          <p:cNvSpPr txBox="1"/>
          <p:nvPr/>
        </p:nvSpPr>
        <p:spPr>
          <a:xfrm>
            <a:off x="7498080" y="5212080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数字均来自训练中没出现过的唱段，生成类指标为 17 句 × 每句 3 次采样的平均。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280" y="6355080"/>
            <a:ext cx="366395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PromptSinger 怎样生成一句唱</a:t>
            </a:r>
            <a:endParaRPr lang="en-US" sz="2800" dirty="0"/>
          </a:p>
        </p:txBody>
      </p:sp>
      <p:sp>
        <p:nvSpPr>
          <p:cNvPr id="3" name="ps input box"/>
          <p:cNvSpPr/>
          <p:nvPr/>
        </p:nvSpPr>
        <p:spPr>
          <a:xfrm>
            <a:off x="548640" y="1280160"/>
            <a:ext cx="2057400" cy="12344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" name="ps input text"/>
          <p:cNvSpPr txBox="1"/>
          <p:nvPr/>
        </p:nvSpPr>
        <p:spPr>
          <a:xfrm>
            <a:off x="658368" y="1371600"/>
            <a:ext cx="1837944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输入条件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文字提示（男声、音量、音高）；逐帧音素；逐帧音高 F0</a:t>
            </a:r>
            <a:endParaRPr lang="en-US" sz="1400" dirty="0"/>
          </a:p>
        </p:txBody>
      </p:sp>
      <p:sp>
        <p:nvSpPr>
          <p:cNvPr id="5" name="ps arrow 1"/>
          <p:cNvSpPr/>
          <p:nvPr/>
        </p:nvSpPr>
        <p:spPr>
          <a:xfrm>
            <a:off x="2651760" y="1897380"/>
            <a:ext cx="32004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6" name="ps prefix box"/>
          <p:cNvSpPr/>
          <p:nvPr/>
        </p:nvSpPr>
        <p:spPr>
          <a:xfrm>
            <a:off x="3017520" y="1280160"/>
            <a:ext cx="2057400" cy="12344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" name="ps prefix text"/>
          <p:cNvSpPr txBox="1"/>
          <p:nvPr/>
        </p:nvSpPr>
        <p:spPr>
          <a:xfrm>
            <a:off x="3127248" y="1371600"/>
            <a:ext cx="1837944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前缀序列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提示经 T5 编码成 77 个向量，与 F0、音素拼成一条长序列</a:t>
            </a:r>
            <a:endParaRPr lang="en-US" sz="1400" dirty="0"/>
          </a:p>
        </p:txBody>
      </p:sp>
      <p:sp>
        <p:nvSpPr>
          <p:cNvPr id="8" name="ps arrow 2"/>
          <p:cNvSpPr/>
          <p:nvPr/>
        </p:nvSpPr>
        <p:spPr>
          <a:xfrm>
            <a:off x="5120640" y="1897380"/>
            <a:ext cx="32004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9" name="ps global box"/>
          <p:cNvSpPr/>
          <p:nvPr/>
        </p:nvSpPr>
        <p:spPr>
          <a:xfrm>
            <a:off x="5486400" y="1280160"/>
            <a:ext cx="2057400" cy="12344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" name="ps global text"/>
          <p:cNvSpPr txBox="1"/>
          <p:nvPr/>
        </p:nvSpPr>
        <p:spPr>
          <a:xfrm>
            <a:off x="5596128" y="1371600"/>
            <a:ext cx="1837944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全局 Transformer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20 层，每帧一个位置，从前往后整句规划</a:t>
            </a:r>
            <a:endParaRPr lang="en-US" sz="1400" dirty="0"/>
          </a:p>
        </p:txBody>
      </p:sp>
      <p:sp>
        <p:nvSpPr>
          <p:cNvPr id="11" name="ps arrow 3"/>
          <p:cNvSpPr/>
          <p:nvPr/>
        </p:nvSpPr>
        <p:spPr>
          <a:xfrm>
            <a:off x="7589520" y="1897380"/>
            <a:ext cx="32004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2" name="ps local box"/>
          <p:cNvSpPr/>
          <p:nvPr/>
        </p:nvSpPr>
        <p:spPr>
          <a:xfrm>
            <a:off x="7955280" y="1280160"/>
            <a:ext cx="1828800" cy="12344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" name="ps local text"/>
          <p:cNvSpPr txBox="1"/>
          <p:nvPr/>
        </p:nvSpPr>
        <p:spPr>
          <a:xfrm>
            <a:off x="8065008" y="1371600"/>
            <a:ext cx="1609344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局部 Transformer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6 层，帧内依次预测 3 个码本</a:t>
            </a:r>
            <a:endParaRPr lang="en-US" sz="1400" dirty="0"/>
          </a:p>
        </p:txBody>
      </p:sp>
      <p:sp>
        <p:nvSpPr>
          <p:cNvPr id="14" name="ps arrow 4"/>
          <p:cNvSpPr/>
          <p:nvPr/>
        </p:nvSpPr>
        <p:spPr>
          <a:xfrm>
            <a:off x="9829800" y="1897380"/>
            <a:ext cx="32004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5" name="ps vocoder box"/>
          <p:cNvSpPr/>
          <p:nvPr/>
        </p:nvSpPr>
        <p:spPr>
          <a:xfrm>
            <a:off x="10195560" y="1280160"/>
            <a:ext cx="1463040" cy="12344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" name="ps vocoder text"/>
          <p:cNvSpPr txBox="1"/>
          <p:nvPr/>
        </p:nvSpPr>
        <p:spPr>
          <a:xfrm>
            <a:off x="10305288" y="1371600"/>
            <a:ext cx="1243584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声码器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3 层码 → 24 kHz 波形</a:t>
            </a:r>
            <a:endParaRPr lang="en-US" sz="1400" dirty="0"/>
          </a:p>
        </p:txBody>
      </p:sp>
      <p:sp>
        <p:nvSpPr>
          <p:cNvPr id="17" name="ps idea card"/>
          <p:cNvSpPr/>
          <p:nvPr/>
        </p:nvSpPr>
        <p:spPr>
          <a:xfrm>
            <a:off x="548640" y="2788920"/>
            <a:ext cx="5440680" cy="3383280"/>
          </a:xfrm>
          <a:prstGeom prst="roundRect">
            <a:avLst>
              <a:gd name="adj" fmla="val 16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ps idea text"/>
          <p:cNvSpPr txBox="1"/>
          <p:nvPr/>
        </p:nvSpPr>
        <p:spPr>
          <a:xfrm>
            <a:off x="731520" y="2926080"/>
            <a:ext cx="5074920" cy="3108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核心思想：把唱歌当成“续写”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音频先被 SoundStream 编解码器压成离散码：每秒 50 帧，每帧 3 个码本，每个码本 1024 种取值。生成唱歌就变成了预测这串码。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模型读入“提示词 + 音高 + 音素”这段前缀后，逐帧写出声学码，每一步都只看已经写出的内容（自回归），和大语言模型续写文字是同一个道理。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每帧先由全局模型给出整体安排，再由局部模型补齐 3 个码本，属于“粗到细”的两级结构。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第一步还会先采样一个“音高基准”，决定这一句整体唱多高，所以每次生成的调高也可能略有不同。</a:t>
            </a:r>
            <a:endParaRPr lang="en-US" sz="1300" dirty="0"/>
          </a:p>
        </p:txBody>
      </p:sp>
      <p:sp>
        <p:nvSpPr>
          <p:cNvPr id="19" name="ps keys card"/>
          <p:cNvSpPr/>
          <p:nvPr/>
        </p:nvSpPr>
        <p:spPr>
          <a:xfrm>
            <a:off x="6217920" y="2788920"/>
            <a:ext cx="5440680" cy="3383280"/>
          </a:xfrm>
          <a:prstGeom prst="roundRect">
            <a:avLst>
              <a:gd name="adj" fmla="val 16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s keys text"/>
          <p:cNvSpPr txBox="1"/>
          <p:nvPr/>
        </p:nvSpPr>
        <p:spPr>
          <a:xfrm>
            <a:off x="6400800" y="2926080"/>
            <a:ext cx="5074920" cy="3108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这个结构带来的三个关键点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音素和 F0 是逐帧对齐的条件：标注里每一帧标成什么，模型就学“这一帧该发什么声”。标注错，模型就学错——这正是后面发现的问题根源。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生成是逐帧采样的，同一句唱每次生成结果都不一样。所以比较不同版本时，必须多次采样再看统计，不能只听一次。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最后一步由声码器把码还原成声音，声码器还原得准不准，决定了音质的上限；声学模型再好，也越不过这一关。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约 4.4 亿参数、序列很长（一句 10 秒约 1600 个位置），所以训练要用云端 GPU，生成可以在本机 CPU 上跑。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280" y="6355080"/>
            <a:ext cx="366395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问题根因：字间空白被当成了“静音”</a:t>
            </a:r>
            <a:endParaRPr lang="en-US" sz="2800" dirty="0"/>
          </a:p>
        </p:txBody>
      </p:sp>
      <p:sp>
        <p:nvSpPr>
          <p:cNvPr id="3" name="cause text"/>
          <p:cNvSpPr txBox="1"/>
          <p:nvPr/>
        </p:nvSpPr>
        <p:spPr>
          <a:xfrm>
            <a:off x="548640" y="1234440"/>
            <a:ext cx="512064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京剧唱段的 TextGrid 标注在字与字之间常常留空。原来的处理把空白一律标成 SP（静音）。但京剧拖腔很长，歌手在这些“空白”里往往还在唱。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统计结果：标成 SP 的帧里有 46% 实际在发声；句子中间的 SP 段，有 61% 大部分在发声。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后果：训练时模型一会儿看到“SP + 有声”，一会儿看到“SP + 无声”，学到的静音含义是模糊的。生成时到了字间，声音就时有时无地掉下去，形成小坑。</a:t>
            </a:r>
            <a:endParaRPr lang="en-US" sz="1400" dirty="0"/>
          </a:p>
        </p:txBody>
      </p:sp>
      <p:sp>
        <p:nvSpPr>
          <p:cNvPr id="4" name="diagram caption"/>
          <p:cNvSpPr txBox="1"/>
          <p:nvPr/>
        </p:nvSpPr>
        <p:spPr>
          <a:xfrm>
            <a:off x="6035040" y="123444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例：“我本是卧龙岗”中“是”到“卧”之间的 57 帧（每帧 20 毫秒）</a:t>
            </a:r>
            <a:endParaRPr lang="en-US" sz="1300" dirty="0"/>
          </a:p>
        </p:txBody>
      </p:sp>
      <p:sp>
        <p:nvSpPr>
          <p:cNvPr id="5" name="diagram row label 0"/>
          <p:cNvSpPr txBox="1"/>
          <p:nvPr/>
        </p:nvSpPr>
        <p:spPr>
          <a:xfrm>
            <a:off x="6035040" y="178308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实际声音</a:t>
            </a:r>
            <a:endParaRPr lang="en-US" sz="1200" dirty="0"/>
          </a:p>
        </p:txBody>
      </p:sp>
      <p:sp>
        <p:nvSpPr>
          <p:cNvPr id="6" name="diagram 0-0"/>
          <p:cNvSpPr/>
          <p:nvPr/>
        </p:nvSpPr>
        <p:spPr>
          <a:xfrm>
            <a:off x="6949440" y="1783080"/>
            <a:ext cx="921715" cy="502920"/>
          </a:xfrm>
          <a:prstGeom prst="rect">
            <a:avLst/>
          </a:prstGeom>
          <a:solidFill>
            <a:srgbClr val="E8EBF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diagram 0-0 label"/>
          <p:cNvSpPr txBox="1"/>
          <p:nvPr/>
        </p:nvSpPr>
        <p:spPr>
          <a:xfrm>
            <a:off x="6949440" y="1783080"/>
            <a:ext cx="92171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是 (i)</a:t>
            </a:r>
            <a:endParaRPr lang="en-US" sz="1100" dirty="0"/>
          </a:p>
        </p:txBody>
      </p:sp>
      <p:sp>
        <p:nvSpPr>
          <p:cNvPr id="8" name="diagram 0-1"/>
          <p:cNvSpPr/>
          <p:nvPr/>
        </p:nvSpPr>
        <p:spPr>
          <a:xfrm>
            <a:off x="7871155" y="1783080"/>
            <a:ext cx="1689811" cy="502920"/>
          </a:xfrm>
          <a:prstGeom prst="rect">
            <a:avLst/>
          </a:prstGeom>
          <a:solidFill>
            <a:srgbClr val="E8EBF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diagram 0-1 label"/>
          <p:cNvSpPr txBox="1"/>
          <p:nvPr/>
        </p:nvSpPr>
        <p:spPr>
          <a:xfrm>
            <a:off x="7871155" y="1783080"/>
            <a:ext cx="1689811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仍在拖腔 33 帧</a:t>
            </a:r>
            <a:endParaRPr lang="en-US" sz="1100" dirty="0"/>
          </a:p>
        </p:txBody>
      </p:sp>
      <p:sp>
        <p:nvSpPr>
          <p:cNvPr id="10" name="diagram 0-2"/>
          <p:cNvSpPr/>
          <p:nvPr/>
        </p:nvSpPr>
        <p:spPr>
          <a:xfrm>
            <a:off x="9560966" y="1783080"/>
            <a:ext cx="921715" cy="502920"/>
          </a:xfrm>
          <a:prstGeom prst="rect">
            <a:avLst/>
          </a:prstGeom>
          <a:solidFill>
            <a:srgbClr val="F2F2F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diagram 0-2 label"/>
          <p:cNvSpPr txBox="1"/>
          <p:nvPr/>
        </p:nvSpPr>
        <p:spPr>
          <a:xfrm>
            <a:off x="9560966" y="1783080"/>
            <a:ext cx="92171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真停顿 16</a:t>
            </a:r>
            <a:endParaRPr lang="en-US" sz="1100" dirty="0"/>
          </a:p>
        </p:txBody>
      </p:sp>
      <p:sp>
        <p:nvSpPr>
          <p:cNvPr id="12" name="diagram 0-3"/>
          <p:cNvSpPr/>
          <p:nvPr/>
        </p:nvSpPr>
        <p:spPr>
          <a:xfrm>
            <a:off x="10482682" y="1783080"/>
            <a:ext cx="460858" cy="502920"/>
          </a:xfrm>
          <a:prstGeom prst="rect">
            <a:avLst/>
          </a:prstGeom>
          <a:solidFill>
            <a:srgbClr val="E8EBF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diagram 0-3 label"/>
          <p:cNvSpPr txBox="1"/>
          <p:nvPr/>
        </p:nvSpPr>
        <p:spPr>
          <a:xfrm>
            <a:off x="10482682" y="1783080"/>
            <a:ext cx="46085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起音</a:t>
            </a:r>
            <a:endParaRPr lang="en-US" sz="1100" dirty="0"/>
          </a:p>
        </p:txBody>
      </p:sp>
      <p:sp>
        <p:nvSpPr>
          <p:cNvPr id="14" name="diagram 0-4"/>
          <p:cNvSpPr/>
          <p:nvPr/>
        </p:nvSpPr>
        <p:spPr>
          <a:xfrm>
            <a:off x="10943539" y="1783080"/>
            <a:ext cx="691286" cy="502920"/>
          </a:xfrm>
          <a:prstGeom prst="rect">
            <a:avLst/>
          </a:prstGeom>
          <a:solidFill>
            <a:srgbClr val="E8EBF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diagram 0-4 label"/>
          <p:cNvSpPr txBox="1"/>
          <p:nvPr/>
        </p:nvSpPr>
        <p:spPr>
          <a:xfrm>
            <a:off x="10943539" y="1783080"/>
            <a:ext cx="691286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卧 (uo)</a:t>
            </a:r>
            <a:endParaRPr lang="en-US" sz="1100" dirty="0"/>
          </a:p>
        </p:txBody>
      </p:sp>
      <p:sp>
        <p:nvSpPr>
          <p:cNvPr id="16" name="diagram row label 1"/>
          <p:cNvSpPr txBox="1"/>
          <p:nvPr/>
        </p:nvSpPr>
        <p:spPr>
          <a:xfrm>
            <a:off x="6035040" y="246888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原来标注</a:t>
            </a:r>
            <a:endParaRPr lang="en-US" sz="1200" dirty="0"/>
          </a:p>
        </p:txBody>
      </p:sp>
      <p:sp>
        <p:nvSpPr>
          <p:cNvPr id="17" name="diagram 1-0"/>
          <p:cNvSpPr/>
          <p:nvPr/>
        </p:nvSpPr>
        <p:spPr>
          <a:xfrm>
            <a:off x="6949440" y="2468880"/>
            <a:ext cx="921715" cy="502920"/>
          </a:xfrm>
          <a:prstGeom prst="rect">
            <a:avLst/>
          </a:prstGeom>
          <a:solidFill>
            <a:srgbClr val="F2F2F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diagram 1-0 label"/>
          <p:cNvSpPr txBox="1"/>
          <p:nvPr/>
        </p:nvSpPr>
        <p:spPr>
          <a:xfrm>
            <a:off x="6949440" y="2468880"/>
            <a:ext cx="92171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i</a:t>
            </a:r>
            <a:endParaRPr lang="en-US" sz="1100" dirty="0"/>
          </a:p>
        </p:txBody>
      </p:sp>
      <p:sp>
        <p:nvSpPr>
          <p:cNvPr id="19" name="diagram 1-1"/>
          <p:cNvSpPr/>
          <p:nvPr/>
        </p:nvSpPr>
        <p:spPr>
          <a:xfrm>
            <a:off x="7871155" y="2468880"/>
            <a:ext cx="3072384" cy="502920"/>
          </a:xfrm>
          <a:prstGeom prst="rect">
            <a:avLst/>
          </a:prstGeom>
          <a:solidFill>
            <a:srgbClr val="F7D9D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diagram 1-1 label"/>
          <p:cNvSpPr txBox="1"/>
          <p:nvPr/>
        </p:nvSpPr>
        <p:spPr>
          <a:xfrm>
            <a:off x="7871155" y="2468880"/>
            <a:ext cx="307238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SP（静音）57 帧</a:t>
            </a:r>
            <a:endParaRPr lang="en-US" sz="1100" dirty="0"/>
          </a:p>
        </p:txBody>
      </p:sp>
      <p:sp>
        <p:nvSpPr>
          <p:cNvPr id="21" name="diagram 1-2"/>
          <p:cNvSpPr/>
          <p:nvPr/>
        </p:nvSpPr>
        <p:spPr>
          <a:xfrm>
            <a:off x="10943539" y="2468880"/>
            <a:ext cx="691286" cy="502920"/>
          </a:xfrm>
          <a:prstGeom prst="rect">
            <a:avLst/>
          </a:prstGeom>
          <a:solidFill>
            <a:srgbClr val="F2F2F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diagram 1-2 label"/>
          <p:cNvSpPr txBox="1"/>
          <p:nvPr/>
        </p:nvSpPr>
        <p:spPr>
          <a:xfrm>
            <a:off x="10943539" y="2468880"/>
            <a:ext cx="691286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uo</a:t>
            </a:r>
            <a:endParaRPr lang="en-US" sz="1100" dirty="0"/>
          </a:p>
        </p:txBody>
      </p:sp>
      <p:sp>
        <p:nvSpPr>
          <p:cNvPr id="23" name="diagram row label 2"/>
          <p:cNvSpPr txBox="1"/>
          <p:nvPr/>
        </p:nvSpPr>
        <p:spPr>
          <a:xfrm>
            <a:off x="6035040" y="315468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修补以后</a:t>
            </a:r>
            <a:endParaRPr lang="en-US" sz="1200" dirty="0"/>
          </a:p>
        </p:txBody>
      </p:sp>
      <p:sp>
        <p:nvSpPr>
          <p:cNvPr id="24" name="diagram 2-0"/>
          <p:cNvSpPr/>
          <p:nvPr/>
        </p:nvSpPr>
        <p:spPr>
          <a:xfrm>
            <a:off x="6949440" y="3154680"/>
            <a:ext cx="921715" cy="502920"/>
          </a:xfrm>
          <a:prstGeom prst="rect">
            <a:avLst/>
          </a:prstGeom>
          <a:solidFill>
            <a:srgbClr val="F2F2F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diagram 2-0 label"/>
          <p:cNvSpPr txBox="1"/>
          <p:nvPr/>
        </p:nvSpPr>
        <p:spPr>
          <a:xfrm>
            <a:off x="6949440" y="3154680"/>
            <a:ext cx="92171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i</a:t>
            </a:r>
            <a:endParaRPr lang="en-US" sz="1100" dirty="0"/>
          </a:p>
        </p:txBody>
      </p:sp>
      <p:sp>
        <p:nvSpPr>
          <p:cNvPr id="26" name="diagram 2-1"/>
          <p:cNvSpPr/>
          <p:nvPr/>
        </p:nvSpPr>
        <p:spPr>
          <a:xfrm>
            <a:off x="7871155" y="3154680"/>
            <a:ext cx="1689811" cy="502920"/>
          </a:xfrm>
          <a:prstGeom prst="rect">
            <a:avLst/>
          </a:prstGeom>
          <a:solidFill>
            <a:srgbClr val="DDEFE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diagram 2-1 label"/>
          <p:cNvSpPr txBox="1"/>
          <p:nvPr/>
        </p:nvSpPr>
        <p:spPr>
          <a:xfrm>
            <a:off x="7871155" y="3154680"/>
            <a:ext cx="1689811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i（拖腔）</a:t>
            </a:r>
            <a:endParaRPr lang="en-US" sz="1100" dirty="0"/>
          </a:p>
        </p:txBody>
      </p:sp>
      <p:sp>
        <p:nvSpPr>
          <p:cNvPr id="28" name="diagram 2-2"/>
          <p:cNvSpPr/>
          <p:nvPr/>
        </p:nvSpPr>
        <p:spPr>
          <a:xfrm>
            <a:off x="9560966" y="3154680"/>
            <a:ext cx="921715" cy="502920"/>
          </a:xfrm>
          <a:prstGeom prst="rect">
            <a:avLst/>
          </a:prstGeom>
          <a:solidFill>
            <a:srgbClr val="F2F2F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diagram 2-2 label"/>
          <p:cNvSpPr txBox="1"/>
          <p:nvPr/>
        </p:nvSpPr>
        <p:spPr>
          <a:xfrm>
            <a:off x="9560966" y="3154680"/>
            <a:ext cx="92171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SP 16</a:t>
            </a:r>
            <a:endParaRPr lang="en-US" sz="1100" dirty="0"/>
          </a:p>
        </p:txBody>
      </p:sp>
      <p:sp>
        <p:nvSpPr>
          <p:cNvPr id="30" name="diagram 2-3"/>
          <p:cNvSpPr/>
          <p:nvPr/>
        </p:nvSpPr>
        <p:spPr>
          <a:xfrm>
            <a:off x="10482682" y="3154680"/>
            <a:ext cx="460858" cy="502920"/>
          </a:xfrm>
          <a:prstGeom prst="rect">
            <a:avLst/>
          </a:prstGeom>
          <a:solidFill>
            <a:srgbClr val="DDEFE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diagram 2-3 label"/>
          <p:cNvSpPr txBox="1"/>
          <p:nvPr/>
        </p:nvSpPr>
        <p:spPr>
          <a:xfrm>
            <a:off x="10482682" y="3154680"/>
            <a:ext cx="46085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uo</a:t>
            </a:r>
            <a:endParaRPr lang="en-US" sz="1100" dirty="0"/>
          </a:p>
        </p:txBody>
      </p:sp>
      <p:sp>
        <p:nvSpPr>
          <p:cNvPr id="32" name="diagram 2-4"/>
          <p:cNvSpPr/>
          <p:nvPr/>
        </p:nvSpPr>
        <p:spPr>
          <a:xfrm>
            <a:off x="10943539" y="3154680"/>
            <a:ext cx="691286" cy="502920"/>
          </a:xfrm>
          <a:prstGeom prst="rect">
            <a:avLst/>
          </a:prstGeom>
          <a:solidFill>
            <a:srgbClr val="F2F2F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diagram 2-4 label"/>
          <p:cNvSpPr txBox="1"/>
          <p:nvPr/>
        </p:nvSpPr>
        <p:spPr>
          <a:xfrm>
            <a:off x="10943539" y="3154680"/>
            <a:ext cx="691286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uo</a:t>
            </a:r>
            <a:endParaRPr lang="en-US" sz="1100" dirty="0"/>
          </a:p>
        </p:txBody>
      </p:sp>
      <p:sp>
        <p:nvSpPr>
          <p:cNvPr id="34" name="repair rule card"/>
          <p:cNvSpPr/>
          <p:nvPr/>
        </p:nvSpPr>
        <p:spPr>
          <a:xfrm>
            <a:off x="6035040" y="3977640"/>
            <a:ext cx="5577840" cy="219456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repair rule text"/>
          <p:cNvSpPr txBox="1"/>
          <p:nvPr/>
        </p:nvSpPr>
        <p:spPr>
          <a:xfrm>
            <a:off x="6217920" y="4114800"/>
            <a:ext cx="521208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修补规则（repair_sp_gaps.py）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句中 SP 段从左端起连续有声的帧，归给前一个字（拖腔延续）。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从右端起连续有声的帧，归给后一个字（起音）；中间无声的部分才保留为真停顿。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句首句尾的静音、换气 AP 不动；训练、验证、推理的输入用同一规则。</a:t>
            </a:r>
            <a:endParaRPr lang="en-US" sz="1300" dirty="0"/>
          </a:p>
        </p:txBody>
      </p:sp>
      <p:sp>
        <p:nvSpPr>
          <p:cNvPr id="36" name="stat voiced number"/>
          <p:cNvSpPr txBox="1"/>
          <p:nvPr/>
        </p:nvSpPr>
        <p:spPr>
          <a:xfrm>
            <a:off x="548640" y="4206240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</a:rPr>
              <a:t>46%</a:t>
            </a:r>
            <a:endParaRPr lang="en-US" sz="3600" dirty="0"/>
          </a:p>
        </p:txBody>
      </p:sp>
      <p:sp>
        <p:nvSpPr>
          <p:cNvPr id="37" name="stat voiced label"/>
          <p:cNvSpPr txBox="1"/>
          <p:nvPr/>
        </p:nvSpPr>
        <p:spPr>
          <a:xfrm>
            <a:off x="548640" y="4937760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SP 帧里实际有声的比例</a:t>
            </a:r>
            <a:endParaRPr lang="en-US" sz="1300" dirty="0"/>
          </a:p>
        </p:txBody>
      </p:sp>
      <p:sp>
        <p:nvSpPr>
          <p:cNvPr id="38" name="stat runs number"/>
          <p:cNvSpPr txBox="1"/>
          <p:nvPr/>
        </p:nvSpPr>
        <p:spPr>
          <a:xfrm>
            <a:off x="3108960" y="4206240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2"/>
                </a:solidFill>
              </a:rPr>
              <a:t>6 → 0</a:t>
            </a:r>
            <a:endParaRPr lang="en-US" sz="3600" dirty="0"/>
          </a:p>
        </p:txBody>
      </p:sp>
      <p:sp>
        <p:nvSpPr>
          <p:cNvPr id="39" name="stat runs label"/>
          <p:cNvSpPr txBox="1"/>
          <p:nvPr/>
        </p:nvSpPr>
        <p:spPr>
          <a:xfrm>
            <a:off x="3108960" y="4937760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修补后，大部分有声的句中 SP 段数（洪羊洞数据）</a:t>
            </a:r>
            <a:endParaRPr lang="en-US" sz="13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280" y="6355080"/>
            <a:ext cx="366395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数据整理：从 2011 段录音到 1903 条训练数据</a:t>
            </a:r>
            <a:endParaRPr lang="en-US" sz="2800" dirty="0"/>
          </a:p>
        </p:txBody>
      </p:sp>
      <p:sp>
        <p:nvSpPr>
          <p:cNvPr id="3" name="step dot 0"/>
          <p:cNvSpPr/>
          <p:nvPr/>
        </p:nvSpPr>
        <p:spPr>
          <a:xfrm>
            <a:off x="548640" y="12801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step number 0"/>
          <p:cNvSpPr txBox="1"/>
          <p:nvPr/>
        </p:nvSpPr>
        <p:spPr>
          <a:xfrm>
            <a:off x="548640" y="12801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step text 0"/>
          <p:cNvSpPr txBox="1"/>
          <p:nvPr/>
        </p:nvSpPr>
        <p:spPr>
          <a:xfrm>
            <a:off x="1097280" y="1234440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读取标注　</a:t>
            </a:r>
            <a:r>
              <a:rPr lang="en-US" sz="1300" dirty="0">
                <a:solidFill>
                  <a:schemeClr val="tx2"/>
                </a:solidFill>
              </a:rPr>
              <a:t>每段录音配一份 TextGrid（字层 + 音素层）和歌词。缺标注或标注为空的直接剔除。</a:t>
            </a:r>
            <a:endParaRPr lang="en-US" sz="1300" dirty="0"/>
          </a:p>
        </p:txBody>
      </p:sp>
      <p:sp>
        <p:nvSpPr>
          <p:cNvPr id="6" name="step dot 1"/>
          <p:cNvSpPr/>
          <p:nvPr/>
        </p:nvSpPr>
        <p:spPr>
          <a:xfrm>
            <a:off x="548640" y="210312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step number 1"/>
          <p:cNvSpPr txBox="1"/>
          <p:nvPr/>
        </p:nvSpPr>
        <p:spPr>
          <a:xfrm>
            <a:off x="548640" y="21031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step text 1"/>
          <p:cNvSpPr txBox="1"/>
          <p:nvPr/>
        </p:nvSpPr>
        <p:spPr>
          <a:xfrm>
            <a:off x="1097280" y="2057400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统一音素　</a:t>
            </a:r>
            <a:r>
              <a:rPr lang="en-US" sz="1300" dirty="0">
                <a:solidFill>
                  <a:schemeClr val="tx2"/>
                </a:solidFill>
              </a:rPr>
              <a:t>把“zh a ng”这种拆开的韵尾合并成字典里的“zh ang”。旧数据没做这步，ng 一直被当成未知符号。</a:t>
            </a:r>
            <a:endParaRPr lang="en-US" sz="1300" dirty="0"/>
          </a:p>
        </p:txBody>
      </p:sp>
      <p:sp>
        <p:nvSpPr>
          <p:cNvPr id="9" name="step dot 2"/>
          <p:cNvSpPr/>
          <p:nvPr/>
        </p:nvSpPr>
        <p:spPr>
          <a:xfrm>
            <a:off x="548640" y="29260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step number 2"/>
          <p:cNvSpPr txBox="1"/>
          <p:nvPr/>
        </p:nvSpPr>
        <p:spPr>
          <a:xfrm>
            <a:off x="548640" y="29260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step text 2"/>
          <p:cNvSpPr txBox="1"/>
          <p:nvPr/>
        </p:nvSpPr>
        <p:spPr>
          <a:xfrm>
            <a:off x="1097280" y="2880360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逐帧对齐　</a:t>
            </a:r>
            <a:r>
              <a:rPr lang="en-US" sz="1300" dirty="0">
                <a:solidFill>
                  <a:schemeClr val="tx2"/>
                </a:solidFill>
              </a:rPr>
              <a:t>按 50 帧/秒展开音素；pyworld 提取音高并归一化；记录字与字的边界。</a:t>
            </a:r>
            <a:endParaRPr lang="en-US" sz="1300" dirty="0"/>
          </a:p>
        </p:txBody>
      </p:sp>
      <p:sp>
        <p:nvSpPr>
          <p:cNvPr id="12" name="step dot 3"/>
          <p:cNvSpPr/>
          <p:nvPr/>
        </p:nvSpPr>
        <p:spPr>
          <a:xfrm>
            <a:off x="548640" y="37490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step number 3"/>
          <p:cNvSpPr txBox="1"/>
          <p:nvPr/>
        </p:nvSpPr>
        <p:spPr>
          <a:xfrm>
            <a:off x="548640" y="37490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step text 3"/>
          <p:cNvSpPr txBox="1"/>
          <p:nvPr/>
        </p:nvSpPr>
        <p:spPr>
          <a:xfrm>
            <a:off x="1097280" y="3703320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修补静音　</a:t>
            </a:r>
            <a:r>
              <a:rPr lang="en-US" sz="1300" dirty="0">
                <a:solidFill>
                  <a:schemeClr val="tx2"/>
                </a:solidFill>
              </a:rPr>
              <a:t>按上一页的规则把仍在唱的 SP 帧归还给前后字，共改回 24% 的 SP 帧。</a:t>
            </a:r>
            <a:endParaRPr lang="en-US" sz="1300" dirty="0"/>
          </a:p>
        </p:txBody>
      </p:sp>
      <p:sp>
        <p:nvSpPr>
          <p:cNvPr id="15" name="step dot 4"/>
          <p:cNvSpPr/>
          <p:nvPr/>
        </p:nvSpPr>
        <p:spPr>
          <a:xfrm>
            <a:off x="548640" y="45720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step number 4"/>
          <p:cNvSpPr txBox="1"/>
          <p:nvPr/>
        </p:nvSpPr>
        <p:spPr>
          <a:xfrm>
            <a:off x="548640" y="45720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step text 4"/>
          <p:cNvSpPr txBox="1"/>
          <p:nvPr/>
        </p:nvSpPr>
        <p:spPr>
          <a:xfrm>
            <a:off x="1097280" y="4526280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质量检查　</a:t>
            </a:r>
            <a:r>
              <a:rPr lang="en-US" sz="1300" dirty="0">
                <a:solidFill>
                  <a:schemeClr val="tx2"/>
                </a:solidFill>
              </a:rPr>
              <a:t>标注内有声比例低（错位）、标注外歌声过多、削波、音量过低都剔除；被固定切片截断的片段剪到标注范围后收回。</a:t>
            </a:r>
            <a:endParaRPr lang="en-US" sz="1300" dirty="0"/>
          </a:p>
        </p:txBody>
      </p:sp>
      <p:sp>
        <p:nvSpPr>
          <p:cNvPr id="18" name="step dot 5"/>
          <p:cNvSpPr/>
          <p:nvPr/>
        </p:nvSpPr>
        <p:spPr>
          <a:xfrm>
            <a:off x="548640" y="53949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step number 5"/>
          <p:cNvSpPr txBox="1"/>
          <p:nvPr/>
        </p:nvSpPr>
        <p:spPr>
          <a:xfrm>
            <a:off x="548640" y="53949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step text 5"/>
          <p:cNvSpPr txBox="1"/>
          <p:nvPr/>
        </p:nvSpPr>
        <p:spPr>
          <a:xfrm>
            <a:off x="1097280" y="5349240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按戏划分　</a:t>
            </a:r>
            <a:r>
              <a:rPr lang="en-US" sz="1300" dirty="0">
                <a:solidFill>
                  <a:schemeClr val="tx2"/>
                </a:solidFill>
              </a:rPr>
              <a:t>训练 1753 条；验证 150 条来自 4 出完全不参与训练的戏，避免“背过的唱段”混进评估。</a:t>
            </a:r>
            <a:endParaRPr lang="en-US" sz="1300" dirty="0"/>
          </a:p>
        </p:txBody>
      </p:sp>
      <p:graphicFrame>
        <p:nvGraphicFramePr>
          <p:cNvPr id="21" name="reject chart"/>
          <p:cNvGraphicFramePr/>
          <p:nvPr/>
        </p:nvGraphicFramePr>
        <p:xfrm>
          <a:off x="6583680" y="1188720"/>
          <a:ext cx="50292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" name="data result card"/>
          <p:cNvSpPr/>
          <p:nvPr/>
        </p:nvSpPr>
        <p:spPr>
          <a:xfrm>
            <a:off x="6583680" y="4754880"/>
            <a:ext cx="5029200" cy="141732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data result text"/>
          <p:cNvSpPr txBox="1"/>
          <p:nvPr/>
        </p:nvSpPr>
        <p:spPr>
          <a:xfrm>
            <a:off x="6766560" y="4892040"/>
            <a:ext cx="466344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结果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保留 1903 条（3.82 小时），其中 87 条为剪裁后收回；原来的京剧训练数据只有 11 条。整个流程写成脚本 build_jingju_manifest.py，可重复运行、结果完全一致。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80" y="6355080"/>
            <a:ext cx="366395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整体微调（版本一）：数据有限，要及时停</a:t>
            </a:r>
            <a:endParaRPr lang="en-US" sz="2800" dirty="0"/>
          </a:p>
        </p:txBody>
      </p:sp>
      <p:graphicFrame>
        <p:nvGraphicFramePr>
          <p:cNvPr id="3" name="loss chart"/>
          <p:cNvGraphicFramePr/>
          <p:nvPr/>
        </p:nvGraphicFramePr>
        <p:xfrm>
          <a:off x="548640" y="1188720"/>
          <a:ext cx="60350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loss note"/>
          <p:cNvSpPr txBox="1"/>
          <p:nvPr/>
        </p:nvSpPr>
        <p:spPr>
          <a:xfrm>
            <a:off x="548640" y="5166360"/>
            <a:ext cx="60350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第 5 轮最低（1.047），之后回升：模型开始背训练集。设置“连续 3 轮不再下降就停止”，保留第 5 轮权重。</a:t>
            </a:r>
            <a:endParaRPr lang="en-US" sz="1300" dirty="0"/>
          </a:p>
        </p:txBody>
      </p:sp>
      <p:sp>
        <p:nvSpPr>
          <p:cNvPr id="5" name="ft what card"/>
          <p:cNvSpPr/>
          <p:nvPr/>
        </p:nvSpPr>
        <p:spPr>
          <a:xfrm>
            <a:off x="6949440" y="1188720"/>
            <a:ext cx="4663440" cy="237744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ft what text"/>
          <p:cNvSpPr txBox="1"/>
          <p:nvPr/>
        </p:nvSpPr>
        <p:spPr>
          <a:xfrm>
            <a:off x="7132320" y="1325880"/>
            <a:ext cx="429768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做了什么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起点：官方预训练的 PromptSinger（约 4.4 亿参数）。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数据：上一页整理出的新数据，约 3.7 小时。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方法：所有参数一起训练，学习率 1e-4，fp16 混合精度，约 6 分钟一轮。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监控：每轮在验证集（没见过的 4 出戏）上算损失，连续 3 轮不降就自动停止，原计划 45 轮实际只用 8 轮。</a:t>
            </a:r>
            <a:endParaRPr lang="en-US" sz="1300" dirty="0"/>
          </a:p>
        </p:txBody>
      </p:sp>
      <p:sp>
        <p:nvSpPr>
          <p:cNvPr id="7" name="ft result card"/>
          <p:cNvSpPr/>
          <p:nvPr/>
        </p:nvSpPr>
        <p:spPr>
          <a:xfrm>
            <a:off x="6949440" y="3749040"/>
            <a:ext cx="4663440" cy="242316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ft result text"/>
          <p:cNvSpPr txBox="1"/>
          <p:nvPr/>
        </p:nvSpPr>
        <p:spPr>
          <a:xfrm>
            <a:off x="7132320" y="3886200"/>
            <a:ext cx="4297680" cy="2148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得到什么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字间的能量坑基本消失：只修数据 + 微调就解决了最初的问题。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数据量小是主要限制：5 轮后就开始过拟合，继续训练只会更差。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同时把生成提速约 3 倍（加入 KV 缓存，每步只算新的一帧）。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80" y="6355080"/>
            <a:ext cx="366395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LeVo2 的原理，以及我们借鉴了什么</a:t>
            </a:r>
            <a:endParaRPr lang="en-US" sz="2800" dirty="0"/>
          </a:p>
        </p:txBody>
      </p:sp>
      <p:sp>
        <p:nvSpPr>
          <p:cNvPr id="3" name="levo stage1 box"/>
          <p:cNvSpPr/>
          <p:nvPr/>
        </p:nvSpPr>
        <p:spPr>
          <a:xfrm>
            <a:off x="548640" y="1325880"/>
            <a:ext cx="2377440" cy="12344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" name="levo stage1 text"/>
          <p:cNvSpPr txBox="1"/>
          <p:nvPr/>
        </p:nvSpPr>
        <p:spPr>
          <a:xfrm>
            <a:off x="658368" y="1417320"/>
            <a:ext cx="2157984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LeLM 第一级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预测“混合 token”：整首歌的语义规划</a:t>
            </a:r>
            <a:endParaRPr lang="en-US" sz="1400" dirty="0"/>
          </a:p>
        </p:txBody>
      </p:sp>
      <p:sp>
        <p:nvSpPr>
          <p:cNvPr id="5" name="levo arrow 1"/>
          <p:cNvSpPr/>
          <p:nvPr/>
        </p:nvSpPr>
        <p:spPr>
          <a:xfrm>
            <a:off x="2971800" y="1943100"/>
            <a:ext cx="32004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6" name="levo stage2 box"/>
          <p:cNvSpPr/>
          <p:nvPr/>
        </p:nvSpPr>
        <p:spPr>
          <a:xfrm>
            <a:off x="3337560" y="1325880"/>
            <a:ext cx="2377440" cy="12344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" name="levo stage2 text"/>
          <p:cNvSpPr txBox="1"/>
          <p:nvPr/>
        </p:nvSpPr>
        <p:spPr>
          <a:xfrm>
            <a:off x="3447288" y="1417320"/>
            <a:ext cx="2157984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LeLM 第二级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并行预测人声、伴奏两轨 token：补充各轨细节</a:t>
            </a:r>
            <a:endParaRPr lang="en-US" sz="1400" dirty="0"/>
          </a:p>
        </p:txBody>
      </p:sp>
      <p:sp>
        <p:nvSpPr>
          <p:cNvPr id="8" name="levo arrow 2"/>
          <p:cNvSpPr/>
          <p:nvPr/>
        </p:nvSpPr>
        <p:spPr>
          <a:xfrm>
            <a:off x="5760720" y="1943100"/>
            <a:ext cx="32004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9" name="levo codec box"/>
          <p:cNvSpPr/>
          <p:nvPr/>
        </p:nvSpPr>
        <p:spPr>
          <a:xfrm>
            <a:off x="6126480" y="1325880"/>
            <a:ext cx="2377440" cy="12344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" name="levo codec text"/>
          <p:cNvSpPr txBox="1"/>
          <p:nvPr/>
        </p:nvSpPr>
        <p:spPr>
          <a:xfrm>
            <a:off x="6236208" y="1417320"/>
            <a:ext cx="2157984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扩散编解码器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把 token 还原成完整波形</a:t>
            </a:r>
            <a:endParaRPr lang="en-US" sz="1400" dirty="0"/>
          </a:p>
        </p:txBody>
      </p:sp>
      <p:sp>
        <p:nvSpPr>
          <p:cNvPr id="11" name="posttrain caption"/>
          <p:cNvSpPr txBox="1"/>
          <p:nvPr/>
        </p:nvSpPr>
        <p:spPr>
          <a:xfrm>
            <a:off x="8915400" y="12801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后训练（音乐性的主要来源）</a:t>
            </a:r>
            <a:endParaRPr lang="en-US" sz="1300" dirty="0"/>
          </a:p>
        </p:txBody>
      </p:sp>
      <p:sp>
        <p:nvSpPr>
          <p:cNvPr id="12" name="posttrain list"/>
          <p:cNvSpPr txBox="1"/>
          <p:nvPr/>
        </p:nvSpPr>
        <p:spPr>
          <a:xfrm>
            <a:off x="8915400" y="164592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SFT 监督微调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大规模离线 DPO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闭环半在线 DPO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最后再接上第二级做声学细化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548640" y="2926080"/>
          <a:ext cx="7955280" cy="164592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  <a:gridCol w="1645920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95959"/>
                          </a:solidFill>
                        </a:rPr>
                        <a:t>LeVo2 的做法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95959"/>
                          </a:solidFill>
                        </a:rPr>
                        <a:t>我们的对应做法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95959"/>
                          </a:solidFill>
                        </a:rPr>
                        <a:t>结果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第二级沿时间补充声学细节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在全局与局部模型之间加“局部细化模块”（版本二、三）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无可测收益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后训练中的 DPO 偏好对齐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用自动评分构造“好 / 坏”样本对，训练模型偏好好样本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一轮未见效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自动音乐性评估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免参照评分：音高走向、有声一致、停顿、字头四项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用于挑选有效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高质量编解码器还原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用京剧数据微调声码器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音高准确率 76% → 87%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levo hierarchy"/>
          <p:cNvSpPr txBox="1"/>
          <p:nvPr/>
        </p:nvSpPr>
        <p:spPr>
          <a:xfrm>
            <a:off x="548640" y="4892040"/>
            <a:ext cx="795528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分层建模的含义：</a:t>
            </a:r>
            <a:r>
              <a:rPr lang="en-US" sz="1300" dirty="0">
                <a:solidFill>
                  <a:schemeClr val="tx1"/>
                </a:solidFill>
              </a:rPr>
              <a:t>只用一种 token 时，模型要么擅长整首歌的结构、要么擅长声音细节，难以兼顾。LeVo2 让第一级专心做“唱什么、怎么走”，第二级再并行补齐各轨的声学细节，两者分开训练，互不干扰。它的音乐性主要靠后训练：先用自动美学评估给数据分档，再用大规模 DPO 让模型偏好“更好听”的结果。</a:t>
            </a:r>
            <a:endParaRPr lang="en-US" sz="1300" dirty="0"/>
          </a:p>
        </p:txBody>
      </p:sp>
      <p:sp>
        <p:nvSpPr>
          <p:cNvPr id="15" name="levo why card"/>
          <p:cNvSpPr/>
          <p:nvPr/>
        </p:nvSpPr>
        <p:spPr>
          <a:xfrm>
            <a:off x="8778240" y="2926080"/>
            <a:ext cx="2834640" cy="3246120"/>
          </a:xfrm>
          <a:prstGeom prst="roundRect">
            <a:avLst>
              <a:gd name="adj" fmla="val 19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evo why text"/>
          <p:cNvSpPr txBox="1"/>
          <p:nvPr/>
        </p:nvSpPr>
        <p:spPr>
          <a:xfrm>
            <a:off x="8961120" y="3063240"/>
            <a:ext cx="2468880" cy="2971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为什么效果不同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LeVo2 有海量歌曲数据，并且先做偏好对齐再加第二级；我们只有 3.8 小时京剧数据。结构可以借，规模借不来，所以有效的是“评估 + 挑选”和“声码器”这两条思路。DPO 要在采样更多、数据更大时再试。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280" y="6355080"/>
            <a:ext cx="366395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局部细化模块：设计与结果（版本二、三）</a:t>
            </a:r>
            <a:endParaRPr lang="en-US" sz="2800" dirty="0"/>
          </a:p>
        </p:txBody>
      </p:sp>
      <p:sp>
        <p:nvSpPr>
          <p:cNvPr id="3" name="rf global box"/>
          <p:cNvSpPr/>
          <p:nvPr/>
        </p:nvSpPr>
        <p:spPr>
          <a:xfrm>
            <a:off x="548640" y="1280160"/>
            <a:ext cx="2103120" cy="118872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" name="rf global text"/>
          <p:cNvSpPr txBox="1"/>
          <p:nvPr/>
        </p:nvSpPr>
        <p:spPr>
          <a:xfrm>
            <a:off x="658368" y="1371600"/>
            <a:ext cx="1883664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全局模型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整句规划，输出每帧隐状态</a:t>
            </a:r>
            <a:endParaRPr lang="en-US" sz="1400" dirty="0"/>
          </a:p>
        </p:txBody>
      </p:sp>
      <p:sp>
        <p:nvSpPr>
          <p:cNvPr id="5" name="rf arrow 1"/>
          <p:cNvSpPr/>
          <p:nvPr/>
        </p:nvSpPr>
        <p:spPr>
          <a:xfrm>
            <a:off x="2697480" y="1874520"/>
            <a:ext cx="32004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6" name="rf module box"/>
          <p:cNvSpPr/>
          <p:nvPr/>
        </p:nvSpPr>
        <p:spPr>
          <a:xfrm>
            <a:off x="3063240" y="1280160"/>
            <a:ext cx="3291840" cy="1188720"/>
          </a:xfrm>
          <a:prstGeom prst="roundRect">
            <a:avLst>
              <a:gd name="adj" fmla="val 4615"/>
            </a:avLst>
          </a:prstGeom>
          <a:solidFill>
            <a:srgbClr val="F7ECEA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rf module text"/>
          <p:cNvSpPr txBox="1"/>
          <p:nvPr/>
        </p:nvSpPr>
        <p:spPr>
          <a:xfrm>
            <a:off x="3172968" y="1371600"/>
            <a:ext cx="3072384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局部细化模块（新增）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全局隐状态 + 上一帧声学码 + 前后 4 帧的音素与音高 → 因果卷积</a:t>
            </a:r>
            <a:endParaRPr lang="en-US" sz="1400" dirty="0"/>
          </a:p>
        </p:txBody>
      </p:sp>
      <p:sp>
        <p:nvSpPr>
          <p:cNvPr id="8" name="rf arrow 2"/>
          <p:cNvSpPr/>
          <p:nvPr/>
        </p:nvSpPr>
        <p:spPr>
          <a:xfrm>
            <a:off x="6400800" y="1874520"/>
            <a:ext cx="32004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9" name="rf local box"/>
          <p:cNvSpPr/>
          <p:nvPr/>
        </p:nvSpPr>
        <p:spPr>
          <a:xfrm>
            <a:off x="6766560" y="1280160"/>
            <a:ext cx="2103120" cy="118872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" name="rf local text"/>
          <p:cNvSpPr txBox="1"/>
          <p:nvPr/>
        </p:nvSpPr>
        <p:spPr>
          <a:xfrm>
            <a:off x="6876288" y="1371600"/>
            <a:ext cx="1883664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局部模型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预测本帧 3 个码本</a:t>
            </a:r>
            <a:endParaRPr lang="en-US" sz="1400" dirty="0"/>
          </a:p>
        </p:txBody>
      </p:sp>
      <p:sp>
        <p:nvSpPr>
          <p:cNvPr id="11" name="rf arrow 3"/>
          <p:cNvSpPr/>
          <p:nvPr/>
        </p:nvSpPr>
        <p:spPr>
          <a:xfrm>
            <a:off x="8915400" y="1874520"/>
            <a:ext cx="32004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2" name="rf vocoder box"/>
          <p:cNvSpPr/>
          <p:nvPr/>
        </p:nvSpPr>
        <p:spPr>
          <a:xfrm>
            <a:off x="9281160" y="1280160"/>
            <a:ext cx="2331720" cy="118872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" name="rf vocoder text"/>
          <p:cNvSpPr txBox="1"/>
          <p:nvPr/>
        </p:nvSpPr>
        <p:spPr>
          <a:xfrm>
            <a:off x="9390888" y="1371600"/>
            <a:ext cx="2112264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声码器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码 → 音频</a:t>
            </a:r>
            <a:endParaRPr lang="en-US" sz="1400" dirty="0"/>
          </a:p>
        </p:txBody>
      </p:sp>
      <p:sp>
        <p:nvSpPr>
          <p:cNvPr id="14" name="rf design card"/>
          <p:cNvSpPr/>
          <p:nvPr/>
        </p:nvSpPr>
        <p:spPr>
          <a:xfrm>
            <a:off x="548640" y="2743200"/>
            <a:ext cx="5486400" cy="3429000"/>
          </a:xfrm>
          <a:prstGeom prst="roundRect">
            <a:avLst>
              <a:gd name="adj" fmla="val 1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rf design text"/>
          <p:cNvSpPr txBox="1"/>
          <p:nvPr/>
        </p:nvSpPr>
        <p:spPr>
          <a:xfrm>
            <a:off x="731520" y="2880360"/>
            <a:ext cx="5120640" cy="3154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设计要点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三层膨胀因果卷积（膨胀 1 / 4 / 16），一次能看前 85 帧（约 1.7 秒），覆盖大多数字间间隔。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音素、音高按帧对齐后直接送进来，并向后看 4 帧：让模块提前知道下一个字和音高走向。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输出层零初始化：未训练时与原模型完全一致；只训练这 129 万个参数，其余冻结。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版本二对字界附近 ±8 帧的损失乘 3，版本三不加权。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训练：冻结版本一，只训练模块 2000 步（约 45 分钟）；字界来自 TextGrid 的字层，推理时不需要字界标注。</a:t>
            </a:r>
            <a:endParaRPr lang="en-US" sz="1300" dirty="0"/>
          </a:p>
        </p:txBody>
      </p:sp>
      <p:sp>
        <p:nvSpPr>
          <p:cNvPr id="16" name="rf table caption"/>
          <p:cNvSpPr txBox="1"/>
          <p:nvPr/>
        </p:nvSpPr>
        <p:spPr>
          <a:xfrm>
            <a:off x="6309360" y="27432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字界附近 vs 其他帧的预测误差（验证集，越低越好）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6309360" y="3154680"/>
          <a:ext cx="5303520" cy="1316736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1371600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95959"/>
                          </a:solidFill>
                        </a:rPr>
                        <a:t>模型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95959"/>
                          </a:solidFill>
                        </a:rPr>
                        <a:t>字界附近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95959"/>
                          </a:solidFill>
                        </a:rPr>
                        <a:t>其他帧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版本一（无模块）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2.961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2.116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版本二（模块 + 加权）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2.974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2.108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版本三（模块，不加权）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2.972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2.105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f conclusion"/>
          <p:cNvSpPr txBox="1"/>
          <p:nvPr/>
        </p:nvSpPr>
        <p:spPr>
          <a:xfrm>
            <a:off x="6309360" y="4617720"/>
            <a:ext cx="530352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结论：</a:t>
            </a:r>
            <a:r>
              <a:rPr lang="en-US" sz="1300" dirty="0">
                <a:solidFill>
                  <a:schemeClr val="tx1"/>
                </a:solidFill>
              </a:rPr>
              <a:t>差别在千分之几以内，模块没有可测作用。过程中还发现并修复了一个推理错误：模块生成时看不到后面的帧，与训练不一致。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280" y="6355080"/>
            <a:ext cx="366395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可靠的比较：多次采样 + 置信区间</a:t>
            </a:r>
            <a:endParaRPr lang="en-US" sz="2800" dirty="0"/>
          </a:p>
        </p:txBody>
      </p:sp>
      <p:sp>
        <p:nvSpPr>
          <p:cNvPr id="3" name="eval why card"/>
          <p:cNvSpPr/>
          <p:nvPr/>
        </p:nvSpPr>
        <p:spPr>
          <a:xfrm>
            <a:off x="548640" y="1188720"/>
            <a:ext cx="5120640" cy="237744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eval why text"/>
          <p:cNvSpPr txBox="1"/>
          <p:nvPr/>
        </p:nvSpPr>
        <p:spPr>
          <a:xfrm>
            <a:off x="731520" y="1325880"/>
            <a:ext cx="475488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为什么要改评估方法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生成带有随机性。同一个模型把同一句唱重新生成一次，连唱指标就从 0.987 变成了 0.942，和版本之间的差别一样大。只听一次、只算一次，排出的名次是不可靠的。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改法：从验证集挑 17 句（5–12 秒，既有连唱也有停顿），每句用 3 个随机种子各生成一次；把唱句整句重抽样 1000 次（自助法），得到每个指标的 95% 置信区间。两个版本的区间重叠，就说明差别还分不出来。</a:t>
            </a:r>
            <a:endParaRPr lang="en-US" sz="1300" dirty="0"/>
          </a:p>
        </p:txBody>
      </p:sp>
      <p:sp>
        <p:nvSpPr>
          <p:cNvPr id="5" name="eval metrics card"/>
          <p:cNvSpPr/>
          <p:nvPr/>
        </p:nvSpPr>
        <p:spPr>
          <a:xfrm>
            <a:off x="548640" y="3703320"/>
            <a:ext cx="5120640" cy="246888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eval metrics text"/>
          <p:cNvSpPr txBox="1"/>
          <p:nvPr/>
        </p:nvSpPr>
        <p:spPr>
          <a:xfrm>
            <a:off x="731520" y="3840480"/>
            <a:ext cx="475488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三项字界指标（与原唱对比）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连唱有声比例：字与字直接相连处有音高的帧比例，越接近 1 越连贯。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辅音字头凹陷：清辅音起头处的能量下陷，越接近原唱字头越清楚。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停顿深度：真停顿处比周围安静多少分贝，越接近原唱越干净。统计用 17 句没见过的唱句 × 每句 3 次采样，并给出 95% 置信区间。</a:t>
            </a:r>
            <a:endParaRPr lang="en-US" sz="1300" dirty="0"/>
          </a:p>
        </p:txBody>
      </p:sp>
      <p:graphicFrame>
        <p:nvGraphicFramePr>
          <p:cNvPr id="7" name="versions chart"/>
          <p:cNvGraphicFramePr/>
          <p:nvPr/>
        </p:nvGraphicFramePr>
        <p:xfrm>
          <a:off x="5943600" y="1188720"/>
          <a:ext cx="56692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943600" y="4343400"/>
          <a:ext cx="5669280" cy="1645920"/>
        </p:xfrm>
        <a:graphic>
          <a:graphicData uri="http://schemas.openxmlformats.org/drawingml/2006/table">
            <a:tbl>
              <a:tblPr/>
              <a:tblGrid>
                <a:gridCol w="914400"/>
                <a:gridCol w="1737360"/>
                <a:gridCol w="1463040"/>
                <a:gridCol w="1554480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95959"/>
                          </a:solidFill>
                        </a:rPr>
                        <a:t>连唱有声比例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95959"/>
                          </a:solidFill>
                        </a:rPr>
                        <a:t>字头凹陷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95959"/>
                          </a:solidFill>
                        </a:rPr>
                        <a:t>停顿深度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原唱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0.988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16.6 dB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41.0 dB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版本一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0.970 [0.93, 1.00]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8.7 [6.4, 11.0]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15.9 [9.8, 22.8]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版本二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0.972 [0.93, 1.00]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10.0 [8.6, 11.3]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16.1 [9.8, 22.6]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版本三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0.969 [0.92, 1.00]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10.2 [8.5, 12.2]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21.2 [17.0, 25.6]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80" y="6355080"/>
            <a:ext cx="366395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声码器：音质上限的主要瓶颈</a:t>
            </a:r>
            <a:endParaRPr lang="en-US" sz="2800" dirty="0"/>
          </a:p>
        </p:txBody>
      </p:sp>
      <p:sp>
        <p:nvSpPr>
          <p:cNvPr id="3" name="voc ceiling card"/>
          <p:cNvSpPr/>
          <p:nvPr/>
        </p:nvSpPr>
        <p:spPr>
          <a:xfrm>
            <a:off x="548640" y="1188720"/>
            <a:ext cx="5120640" cy="233172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voc ceiling text"/>
          <p:cNvSpPr txBox="1"/>
          <p:nvPr/>
        </p:nvSpPr>
        <p:spPr>
          <a:xfrm>
            <a:off x="731520" y="1325880"/>
            <a:ext cx="4754880" cy="2057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先找上限：只做“编码 → 还原”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把真实录音编码成模型使用的 3 层码，再用不同方式还原，不经过声学模型。这样测到的是“声学模型完美时最好能到哪里”。结果：损失最大的不是只用 3 层码，而是声码器本身。原声码器还原真实录音时，近四分之一的帧音高偏差超过 50 音分（半个半音），直接限制了滑音、颤音。</a:t>
            </a:r>
            <a:endParaRPr lang="en-US" sz="1300" dirty="0"/>
          </a:p>
        </p:txBody>
      </p:sp>
      <p:sp>
        <p:nvSpPr>
          <p:cNvPr id="5" name="voc method card"/>
          <p:cNvSpPr/>
          <p:nvPr/>
        </p:nvSpPr>
        <p:spPr>
          <a:xfrm>
            <a:off x="548640" y="3703320"/>
            <a:ext cx="5120640" cy="246888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voc method text"/>
          <p:cNvSpPr txBox="1"/>
          <p:nvPr/>
        </p:nvSpPr>
        <p:spPr>
          <a:xfrm>
            <a:off x="731520" y="3840480"/>
            <a:ext cx="475488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微调方法（finetune_vocoder.py）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数据：1903 条京剧录音编码出的 3 层码与 24 kHz 原音频成对。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生成器从原声码器权重出发；两个判别器（多周期、多分辨率）从头训练。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前 2000 步只用梅尔频谱损失，等判别器跟上再加对抗与特征匹配损失；共 1 万步。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按“音高准确率”选最佳权重，且频谱距离不得比原声码器差 5% 以上；RTX 3090 上约 1.5 小时。</a:t>
            </a:r>
            <a:endParaRPr lang="en-US" sz="1300" dirty="0"/>
          </a:p>
        </p:txBody>
      </p:sp>
      <p:graphicFrame>
        <p:nvGraphicFramePr>
          <p:cNvPr id="7" name="vocoder chart"/>
          <p:cNvGraphicFramePr/>
          <p:nvPr/>
        </p:nvGraphicFramePr>
        <p:xfrm>
          <a:off x="5943600" y="1188720"/>
          <a:ext cx="56692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943600" y="4343400"/>
          <a:ext cx="5669280" cy="1316736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  <a:gridCol w="1371600"/>
                <a:gridCol w="1097280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95959"/>
                          </a:solidFill>
                        </a:rPr>
                        <a:t>还原路径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95959"/>
                          </a:solidFill>
                        </a:rPr>
                        <a:t>频谱距离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95959"/>
                          </a:solidFill>
                        </a:rPr>
                        <a:t>音高中位误差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95959"/>
                          </a:solidFill>
                        </a:rPr>
                        <a:t>50 音分内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原声码器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1.191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18.7 音分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76.3%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微调后声码器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0.888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12.4 音分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87.2%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编解码器 8 层（参照）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0.981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12.1 音分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87.1%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80" y="6355080"/>
            <a:ext cx="366395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多次生成，自动挑选：不训练也能提升</a:t>
            </a:r>
            <a:endParaRPr lang="en-US" sz="2800" dirty="0"/>
          </a:p>
        </p:txBody>
      </p:sp>
      <p:sp>
        <p:nvSpPr>
          <p:cNvPr id="3" name="best idea card"/>
          <p:cNvSpPr/>
          <p:nvPr/>
        </p:nvSpPr>
        <p:spPr>
          <a:xfrm>
            <a:off x="548640" y="1188720"/>
            <a:ext cx="5120640" cy="2651760"/>
          </a:xfrm>
          <a:prstGeom prst="roundRect">
            <a:avLst>
              <a:gd name="adj" fmla="val 20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est idea text"/>
          <p:cNvSpPr txBox="1"/>
          <p:nvPr/>
        </p:nvSpPr>
        <p:spPr>
          <a:xfrm>
            <a:off x="731520" y="1325880"/>
            <a:ext cx="475488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原理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同一句唱的几次采样质量差别很大，好的唱法模型已经能生成，只是不稳定。于是每句生成 N 次，用一个不需要原唱的评分挑出最好的一次。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评分 = 四项平均（每项 0–1）：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音高走向是否跟随输入 F0（去掉整体调高后 50 音分内的比例）；该唱处是否有声；输入里的真停顿是否安静（40 dB 满分）；辅音字头凹陷是否明显（16 dB 满分）。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实现：diagnostics/local_generate.py --samples N，所有候选和评分都会保存下来。</a:t>
            </a:r>
            <a:endParaRPr lang="en-US" sz="1300" dirty="0"/>
          </a:p>
        </p:txBody>
      </p:sp>
      <p:sp>
        <p:nvSpPr>
          <p:cNvPr id="5" name="best effect card"/>
          <p:cNvSpPr/>
          <p:nvPr/>
        </p:nvSpPr>
        <p:spPr>
          <a:xfrm>
            <a:off x="548640" y="4023360"/>
            <a:ext cx="5120640" cy="214884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est effect text"/>
          <p:cNvSpPr txBox="1"/>
          <p:nvPr/>
        </p:nvSpPr>
        <p:spPr>
          <a:xfrm>
            <a:off x="731520" y="4160520"/>
            <a:ext cx="4754880" cy="1874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效果与代价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挑出的那次在三项指标上都更接近原唱，被淘汰的那次明显更差；人耳试听也认为挑出的更好。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连唱有声比例不在评分里，同样从 0.950 提到 0.968，说明挑选不只是“迎合评分”。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代价：生成时间乘 N。本机 CPU 每次约 100 秒，3 选 1 约 5 分钟一句。</a:t>
            </a:r>
            <a:endParaRPr lang="en-US" sz="1300" dirty="0"/>
          </a:p>
        </p:txBody>
      </p:sp>
      <p:graphicFrame>
        <p:nvGraphicFramePr>
          <p:cNvPr id="7" name="best chart"/>
          <p:cNvGraphicFramePr/>
          <p:nvPr/>
        </p:nvGraphicFramePr>
        <p:xfrm>
          <a:off x="5943600" y="1188720"/>
          <a:ext cx="56692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best note"/>
          <p:cNvSpPr txBox="1"/>
          <p:nvPr/>
        </p:nvSpPr>
        <p:spPr>
          <a:xfrm>
            <a:off x="5943600" y="5029200"/>
            <a:ext cx="56692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注意：停顿和字头本身在评分里，提升有一定循环；最终以人耳试听和连唱指标为准。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80" y="6355080"/>
            <a:ext cx="366395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DPO 偏好对齐：把“挑选”训练进模型</a:t>
            </a:r>
            <a:endParaRPr lang="en-US" sz="2800" dirty="0"/>
          </a:p>
        </p:txBody>
      </p:sp>
      <p:sp>
        <p:nvSpPr>
          <p:cNvPr id="3" name="dpo idea card"/>
          <p:cNvSpPr/>
          <p:nvPr/>
        </p:nvSpPr>
        <p:spPr>
          <a:xfrm>
            <a:off x="548640" y="1188720"/>
            <a:ext cx="5486400" cy="2514600"/>
          </a:xfrm>
          <a:prstGeom prst="roundRect">
            <a:avLst>
              <a:gd name="adj" fmla="val 2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po idea text"/>
          <p:cNvSpPr txBox="1"/>
          <p:nvPr/>
        </p:nvSpPr>
        <p:spPr>
          <a:xfrm>
            <a:off x="731520" y="1325880"/>
            <a:ext cx="5120640" cy="2240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原理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对同一个输入，给模型一对样本：更好的 y_w 和更差的 y_l。训练目标是让模型相对冻结的参照模型，更提高 y_w 的概率、降低 y_l 的概率：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L = −log σ( β·[ (log π(y_w) − log π_ref(y_w)) − (log π(y_l) − log π_ref(y_l)) ] ) + 0.1·NLL(y_w)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π 是正在训练的模型，π_ref 是冻结的原模型；σ 是 sigmoid；β = 0.1 控制偏离参照的幅度；最后一项让模型不偏离好样本太远。</a:t>
            </a:r>
            <a:endParaRPr lang="en-US" sz="1300" dirty="0"/>
          </a:p>
        </p:txBody>
      </p:sp>
      <p:sp>
        <p:nvSpPr>
          <p:cNvPr id="5" name="dpo setup card"/>
          <p:cNvSpPr/>
          <p:nvPr/>
        </p:nvSpPr>
        <p:spPr>
          <a:xfrm>
            <a:off x="548640" y="3886200"/>
            <a:ext cx="5486400" cy="2286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dpo setup text"/>
          <p:cNvSpPr txBox="1"/>
          <p:nvPr/>
        </p:nvSpPr>
        <p:spPr>
          <a:xfrm>
            <a:off x="731520" y="4023360"/>
            <a:ext cx="512064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实验设置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版本三对 600 句训练唱句各生成 4 次（A100 上批量采样，每句约 8 秒）。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用上一页的评分取最高和最低配对，分差 ≥ 0.1 的得到 445 对（好 0.774，差 0.426）。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试三个学习率，各训练 2 轮；在 17 句没见过的唱句 × 3 次上评估单次生成。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6309360" y="1188720"/>
          <a:ext cx="5303520" cy="1645920"/>
        </p:xfrm>
        <a:graphic>
          <a:graphicData uri="http://schemas.openxmlformats.org/drawingml/2006/table">
            <a:tbl>
              <a:tblPr/>
              <a:tblGrid>
                <a:gridCol w="1143000"/>
                <a:gridCol w="1051560"/>
                <a:gridCol w="960120"/>
                <a:gridCol w="2148840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95959"/>
                          </a:solidFill>
                        </a:rPr>
                        <a:t>学习率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95959"/>
                          </a:solidFill>
                        </a:rPr>
                        <a:t>留出偏好准确率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95959"/>
                          </a:solidFill>
                        </a:rPr>
                        <a:t>单次生成评分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95959"/>
                          </a:solidFill>
                        </a:rPr>
                        <a:t>与版本三之差 [95% 区间]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版本三（基线）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0.669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1e-6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59%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0.663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−0.005 [−0.059, +0.041]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5e-6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61%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0.666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−0.002 [−0.074, +0.062]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1e-5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68%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0.619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−0.049 [−0.104, −0.000]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dpo result card"/>
          <p:cNvSpPr/>
          <p:nvPr/>
        </p:nvSpPr>
        <p:spPr>
          <a:xfrm>
            <a:off x="6309360" y="3337560"/>
            <a:ext cx="5303520" cy="2834640"/>
          </a:xfrm>
          <a:prstGeom prst="roundRect">
            <a:avLst>
              <a:gd name="adj" fmla="val 19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dpo result text"/>
          <p:cNvSpPr txBox="1"/>
          <p:nvPr/>
        </p:nvSpPr>
        <p:spPr>
          <a:xfrm>
            <a:off x="6492240" y="3474720"/>
            <a:ext cx="493776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结论与分析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三个学习率都没让单次生成变好，学习率最大时还显著变差。“留出偏好准确率”是没参与训练的 44 对里，模型判断对好坏的比例。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留出准确率只有六到七成：同一句唱的好坏差别大多来自采样的偶然，模型从四百多对里学不到能迁移的规律。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若再试：每句采样 8–16 次让偏好更稳定，用上全部训练句，并按字界计算局部奖励。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280" y="6355080"/>
            <a:ext cx="366395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结论与下一步</a:t>
            </a:r>
            <a:endParaRPr lang="en-US" sz="2800" dirty="0"/>
          </a:p>
        </p:txBody>
      </p:sp>
      <p:sp>
        <p:nvSpPr>
          <p:cNvPr id="3" name="conclusion card"/>
          <p:cNvSpPr/>
          <p:nvPr/>
        </p:nvSpPr>
        <p:spPr>
          <a:xfrm>
            <a:off x="548640" y="1188720"/>
            <a:ext cx="5486400" cy="4983480"/>
          </a:xfrm>
          <a:prstGeom prst="roundRect">
            <a:avLst>
              <a:gd name="adj" fmla="val 11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onclusion text"/>
          <p:cNvSpPr txBox="1"/>
          <p:nvPr/>
        </p:nvSpPr>
        <p:spPr>
          <a:xfrm>
            <a:off x="731520" y="1325880"/>
            <a:ext cx="5120640" cy="4709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结论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最有效的是修数据。字间小坑的根源是标注把仍在唱的帧标成静音，修补后整体微调即可消除。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声码器决定音质上限。京剧数据微调后，音高还原准确率 76% → 87%，追平 8 层码。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评估必须多次采样。单次采样的随机波动和版本差别一样大，结论要看置信区间。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多次生成挑选简单有效。不训练就让停顿、字头明显接近原唱。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LeVo2 的结构借鉴（局部细化）与一轮 DPO 在 3.8 小时数据上没有可测收益：它们依赖的数据规模我们还没有。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工程上的收获：生成提速约 3 倍（KV 缓存）、批量采样每句 4 次约 8 秒、数据构建与评估全部脚本化，可以在本机复现。</a:t>
            </a:r>
            <a:endParaRPr lang="en-US" sz="1300" dirty="0"/>
          </a:p>
        </p:txBody>
      </p:sp>
      <p:sp>
        <p:nvSpPr>
          <p:cNvPr id="5" name="pipeline caption"/>
          <p:cNvSpPr txBox="1"/>
          <p:nvPr/>
        </p:nvSpPr>
        <p:spPr>
          <a:xfrm>
            <a:off x="6400800" y="118872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推荐的生成流程</a:t>
            </a:r>
            <a:endParaRPr lang="en-US" sz="1500" dirty="0"/>
          </a:p>
        </p:txBody>
      </p:sp>
      <p:sp>
        <p:nvSpPr>
          <p:cNvPr id="6" name="pipeline 0 box"/>
          <p:cNvSpPr/>
          <p:nvPr/>
        </p:nvSpPr>
        <p:spPr>
          <a:xfrm>
            <a:off x="6400800" y="1645920"/>
            <a:ext cx="1207008" cy="118872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" name="pipeline 0 text"/>
          <p:cNvSpPr txBox="1"/>
          <p:nvPr/>
        </p:nvSpPr>
        <p:spPr>
          <a:xfrm>
            <a:off x="6510528" y="1737360"/>
            <a:ext cx="987552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版本三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修补数据后微调的模型</a:t>
            </a:r>
            <a:endParaRPr lang="en-US" sz="1400" dirty="0"/>
          </a:p>
        </p:txBody>
      </p:sp>
      <p:sp>
        <p:nvSpPr>
          <p:cNvPr id="8" name="pipeline arrow 0"/>
          <p:cNvSpPr/>
          <p:nvPr/>
        </p:nvSpPr>
        <p:spPr>
          <a:xfrm>
            <a:off x="7616952" y="2240280"/>
            <a:ext cx="118872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9" name="pipeline 1 box"/>
          <p:cNvSpPr/>
          <p:nvPr/>
        </p:nvSpPr>
        <p:spPr>
          <a:xfrm>
            <a:off x="7744968" y="1645920"/>
            <a:ext cx="1207008" cy="118872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" name="pipeline 1 text"/>
          <p:cNvSpPr txBox="1"/>
          <p:nvPr/>
        </p:nvSpPr>
        <p:spPr>
          <a:xfrm>
            <a:off x="7854696" y="1737360"/>
            <a:ext cx="987552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生成 3 次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同一句采样三次</a:t>
            </a:r>
            <a:endParaRPr lang="en-US" sz="1400" dirty="0"/>
          </a:p>
        </p:txBody>
      </p:sp>
      <p:sp>
        <p:nvSpPr>
          <p:cNvPr id="11" name="pipeline arrow 1"/>
          <p:cNvSpPr/>
          <p:nvPr/>
        </p:nvSpPr>
        <p:spPr>
          <a:xfrm>
            <a:off x="8961120" y="2240280"/>
            <a:ext cx="118872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2" name="pipeline 2 box"/>
          <p:cNvSpPr/>
          <p:nvPr/>
        </p:nvSpPr>
        <p:spPr>
          <a:xfrm>
            <a:off x="9089136" y="1645920"/>
            <a:ext cx="1207008" cy="1188720"/>
          </a:xfrm>
          <a:prstGeom prst="roundRect">
            <a:avLst>
              <a:gd name="adj" fmla="val 4615"/>
            </a:avLst>
          </a:prstGeom>
          <a:solidFill>
            <a:srgbClr val="F7ECEA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3" name="pipeline 2 text"/>
          <p:cNvSpPr txBox="1"/>
          <p:nvPr/>
        </p:nvSpPr>
        <p:spPr>
          <a:xfrm>
            <a:off x="9198864" y="1737360"/>
            <a:ext cx="987552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自动挑选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按四项评分</a:t>
            </a:r>
            <a:endParaRPr lang="en-US" sz="1400" dirty="0"/>
          </a:p>
        </p:txBody>
      </p:sp>
      <p:sp>
        <p:nvSpPr>
          <p:cNvPr id="14" name="pipeline arrow 2"/>
          <p:cNvSpPr/>
          <p:nvPr/>
        </p:nvSpPr>
        <p:spPr>
          <a:xfrm>
            <a:off x="10305288" y="2240280"/>
            <a:ext cx="118872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5" name="pipeline 3 box"/>
          <p:cNvSpPr/>
          <p:nvPr/>
        </p:nvSpPr>
        <p:spPr>
          <a:xfrm>
            <a:off x="10433304" y="1645920"/>
            <a:ext cx="1207008" cy="118872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" name="pipeline 3 text"/>
          <p:cNvSpPr txBox="1"/>
          <p:nvPr/>
        </p:nvSpPr>
        <p:spPr>
          <a:xfrm>
            <a:off x="10543032" y="1737360"/>
            <a:ext cx="987552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新声码器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京剧数据微调</a:t>
            </a:r>
            <a:endParaRPr lang="en-US" sz="1400" dirty="0"/>
          </a:p>
        </p:txBody>
      </p:sp>
      <p:sp>
        <p:nvSpPr>
          <p:cNvPr id="17" name="next steps card"/>
          <p:cNvSpPr/>
          <p:nvPr/>
        </p:nvSpPr>
        <p:spPr>
          <a:xfrm>
            <a:off x="6400800" y="3063240"/>
            <a:ext cx="5212080" cy="3108960"/>
          </a:xfrm>
          <a:prstGeom prst="roundRect">
            <a:avLst>
              <a:gd name="adj" fmla="val 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ext steps text"/>
          <p:cNvSpPr txBox="1"/>
          <p:nvPr/>
        </p:nvSpPr>
        <p:spPr>
          <a:xfrm>
            <a:off x="6583680" y="3200400"/>
            <a:ext cx="4846320" cy="2834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下一步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加数据：“京剧老生单人清晰”中的视频经人声分离与自动标注，可再增加数小时老生独唱，这是缓解过拟合、缩小停顿和字头差距最直接的办法。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改进停顿与咬字：针对字界与停顿的局部训练目标，或在挑选评分中加大权重。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DPO 再试：每句更多次采样、全部训练句、按字界计算的局部奖励。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280" y="6355080"/>
            <a:ext cx="3663950" cy="400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Jingju Report">
  <a:themeElements>
    <a:clrScheme name="Jingju Report">
      <a:dk1>
        <a:srgbClr val="1A1A1A"/>
      </a:dk1>
      <a:lt1>
        <a:srgbClr val="FFFFFF"/>
      </a:lt1>
      <a:dk2>
        <a:srgbClr val="595959"/>
      </a:dk2>
      <a:lt2>
        <a:srgbClr val="F2F2F2"/>
      </a:lt2>
      <a:accent1>
        <a:srgbClr val="9E3527"/>
      </a:accent1>
      <a:accent2>
        <a:srgbClr val="2D3E68"/>
      </a:accent2>
      <a:accent3>
        <a:srgbClr val="8A97B8"/>
      </a:accent3>
      <a:accent4>
        <a:srgbClr val="BFBFBF"/>
      </a:accent4>
      <a:accent5>
        <a:srgbClr val="4F6A8F"/>
      </a:accent5>
      <a:accent6>
        <a:srgbClr val="C98B7E"/>
      </a:accent6>
      <a:hlink>
        <a:srgbClr val="2D3E68"/>
      </a:hlink>
      <a:folHlink>
        <a:srgbClr val="6B4E9B"/>
      </a:folHlink>
    </a:clrScheme>
    <a:fontScheme name="Jingju Report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Jingju Report">
  <a:themeElements>
    <a:clrScheme name="Jingju Report">
      <a:dk1>
        <a:srgbClr val="1A1A1A"/>
      </a:dk1>
      <a:lt1>
        <a:srgbClr val="FFFFFF"/>
      </a:lt1>
      <a:dk2>
        <a:srgbClr val="595959"/>
      </a:dk2>
      <a:lt2>
        <a:srgbClr val="F2F2F2"/>
      </a:lt2>
      <a:accent1>
        <a:srgbClr val="9E3527"/>
      </a:accent1>
      <a:accent2>
        <a:srgbClr val="2D3E68"/>
      </a:accent2>
      <a:accent3>
        <a:srgbClr val="8A97B8"/>
      </a:accent3>
      <a:accent4>
        <a:srgbClr val="BFBFBF"/>
      </a:accent4>
      <a:accent5>
        <a:srgbClr val="4F6A8F"/>
      </a:accent5>
      <a:accent6>
        <a:srgbClr val="C98B7E"/>
      </a:accent6>
      <a:hlink>
        <a:srgbClr val="2D3E68"/>
      </a:hlink>
      <a:folHlink>
        <a:srgbClr val="6B4E9B"/>
      </a:folHlink>
    </a:clrScheme>
    <a:fontScheme name="Jingju Report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6126</Words>
  <Application>WPS 文字</Application>
  <PresentationFormat>On-screen Show (16:9)</PresentationFormat>
  <Paragraphs>471</Paragraphs>
  <Slides>12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宋体</vt:lpstr>
      <vt:lpstr>Wingdings</vt:lpstr>
      <vt:lpstr>Arial</vt:lpstr>
      <vt:lpstr>微软雅黑</vt:lpstr>
      <vt:lpstr>汉仪旗黑</vt:lpstr>
      <vt:lpstr>微软雅黑</vt:lpstr>
      <vt:lpstr>宋体</vt:lpstr>
      <vt:lpstr>Arial Unicode MS</vt:lpstr>
      <vt:lpstr>Calibri</vt:lpstr>
      <vt:lpstr>Helvetica Neue</vt:lpstr>
      <vt:lpstr>汉仪书宋二KW</vt:lpstr>
      <vt:lpstr>等线</vt:lpstr>
      <vt:lpstr>汉仪中等线KW</vt:lpstr>
      <vt:lpstr>等线 Light</vt:lpstr>
      <vt:lpstr>Jingju Report</vt:lpstr>
      <vt:lpstr>问题、做法与结果</vt:lpstr>
      <vt:lpstr>PromptSinger 怎样生成一句唱</vt:lpstr>
      <vt:lpstr>问题根因：字间空白被当成了“静音”</vt:lpstr>
      <vt:lpstr>数据整理：从 2011 段录音到 1903 条训练数据</vt:lpstr>
      <vt:lpstr>整体微调（版本一）：数据有限，要及时停</vt:lpstr>
      <vt:lpstr>LeVo2 的原理，以及我们借鉴了什么</vt:lpstr>
      <vt:lpstr>局部细化模块：设计与结果（版本二、三）</vt:lpstr>
      <vt:lpstr>可靠的比较：多次采样 + 置信区间</vt:lpstr>
      <vt:lpstr>声码器：音质上限的主要瓶颈</vt:lpstr>
      <vt:lpstr>多次生成，自动挑选：不训练也能提升</vt:lpstr>
      <vt:lpstr>DPO 偏好对齐：把“挑选”训练进模型</vt:lpstr>
      <vt:lpstr>结论与下一步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京剧老生唱腔生成改进</dc:title>
  <dc:creator>PptxGenJS</dc:creator>
  <dc:subject>PptxGenJS Presentation</dc:subject>
  <cp:lastModifiedBy>静静</cp:lastModifiedBy>
  <cp:revision>3</cp:revision>
  <dcterms:created xsi:type="dcterms:W3CDTF">2026-10-25T12:35:36Z</dcterms:created>
  <dcterms:modified xsi:type="dcterms:W3CDTF">2026-10-25T12:35:36Z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2052-12.1.23141.23141</vt:lpwstr>
  </property>
  <property fmtid="{D5CDD505-2E9C-101B-9397-08002B2CF9AE}" pid="3" name="ICV">
    <vt:lpwstr>EADF89422578C97798F7DD6A59398129_43</vt:lpwstr>
  </property>
</Properties>
</file>