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7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580" y="2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>
                <a:solidFill>
                  <a:srgbClr val="000000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本页交代项目四条技术主线与本轮文献范围。重点说明：8篇文献集中在语音音乐方向，数字人三维部分不在本轮，需要另做专项调研。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本页是8篇文献的速览总表。讲解时按从上到下与项目贴近度递减，红色字标出许可风险项：Shao、LeVo、VITA非商用，SAM Audio需申请。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韶元是本轮与智能编曲最贴近的成果。强调两点：一是统一声学词元+歌词时序绑定可直接迁移到京剧唱腔；二是CC BY-NC非商用且显存门槛高，原型可用、产品需另选可商用替代。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WordVoice把TTS从句级风格推进到字级五维控制，正好对应京剧咬字归韵与板式节奏。它是优先级最高的候选之一，且Apache-2.0可商用，主要注意数据集单独条款。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这页对比两个非商用开源模型。LeVo适合验证整曲结构与歌词准确率；VITA适合验证角色音色与端到端对话唱歌。二者都只作产品体验对照，商用需另选Apache-2.0替代。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SAM Audio与Mega-ASR是数据治理的P0组合：前者分离人声/乐器，后者转写老旧录音。Mega-ASR是Apache-2.0可商用，是本轮许可最友好的成果之一。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清华综述提供长期架构方向，强调视听统一与全双工；TTS数据策略是立即可用的工程原则。二者分别对应P2架构参考和数据管线指导。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本页把8篇文献映射到项目六条主线并给出优先级。三个P0是立即可做的数据分离、唱腔生成、字级控制；数字人三维部分不在本轮。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五个风险中前四个是工程与合规风险，第五个是范围缺口。强调：许可和数字人三维是两个必须单独处理的事项。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ctr" defTabSz="914400">
              <a:lnSpc>
                <a:spcPct val="91666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914400">
              <a:lnSpc>
                <a:spcPct val="91666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ctr" defTabSz="914400">
              <a:lnSpc>
                <a:spcPct val="91666"/>
              </a:lnSpc>
              <a:defRPr sz="2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914400">
              <a:lnSpc>
                <a:spcPct val="91666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单击此处编辑母版副标题样式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2026/7/10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CA08331E-5F3D-4731-A43B-DEA1BDD0BD09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584200" indent="-355600" algn="l" defTabSz="914400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  <a:p>
            <a:pPr marL="685800" lvl="1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二级</a:t>
            </a:r>
          </a:p>
          <a:p>
            <a:pPr marL="1143000" lvl="2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三级</a:t>
            </a:r>
          </a:p>
          <a:p>
            <a:pPr marL="1600200" lvl="3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四级</a:t>
            </a:r>
          </a:p>
          <a:p>
            <a:pPr marL="2057400" lvl="4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五级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2026/7/10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957DF443-9076-488C-9448-020E8A8E53CC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914400">
              <a:lnSpc>
                <a:spcPct val="91666"/>
              </a:lnSpc>
              <a:defRPr sz="60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60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algn="l" defTabSz="914400">
              <a:lnSpc>
                <a:spcPct val="91666"/>
              </a:lnSpc>
              <a:defRPr sz="2400" b="0" i="0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 defTabSz="914400">
              <a:lnSpc>
                <a:spcPct val="91666"/>
              </a:lnSpc>
              <a:spcBef>
                <a:spcPts val="1000"/>
              </a:spcBef>
            </a:pPr>
            <a:r>
              <a:rPr lang="en-US" sz="24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2026/7/10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E12A482D-12D8-4B59-B4AE-EEE95E7566C1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584200" indent="-355600" algn="l" defTabSz="914400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  <a:p>
            <a:pPr marL="685800" lvl="1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二级</a:t>
            </a:r>
          </a:p>
          <a:p>
            <a:pPr marL="1143000" lvl="2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三级</a:t>
            </a:r>
          </a:p>
          <a:p>
            <a:pPr marL="1600200" lvl="3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四级</a:t>
            </a:r>
          </a:p>
          <a:p>
            <a:pPr marL="2057400" lvl="4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五级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 defTabSz="914400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  <a:p>
            <a:pPr marL="685800" lvl="1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二级</a:t>
            </a:r>
          </a:p>
          <a:p>
            <a:pPr marL="1143000" lvl="2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三级</a:t>
            </a:r>
          </a:p>
          <a:p>
            <a:pPr marL="1600200" lvl="3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四级</a:t>
            </a:r>
          </a:p>
          <a:p>
            <a:pPr marL="2057400" lvl="4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五级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2026/7/10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7CC97974-ADD3-42F2-B2FF-846484872013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914400">
              <a:lnSpc>
                <a:spcPct val="91666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 defTabSz="914400">
              <a:lnSpc>
                <a:spcPct val="91666"/>
              </a:lnSpc>
              <a:spcBef>
                <a:spcPts val="1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 defTabSz="914400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  <a:p>
            <a:pPr marL="685800" lvl="1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二级</a:t>
            </a:r>
          </a:p>
          <a:p>
            <a:pPr marL="1143000" lvl="2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三级</a:t>
            </a:r>
          </a:p>
          <a:p>
            <a:pPr marL="1600200" lvl="3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四级</a:t>
            </a:r>
          </a:p>
          <a:p>
            <a:pPr marL="2057400" lvl="4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五级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Autofit/>
          </a:bodyPr>
          <a:lstStyle>
            <a:lvl1pPr algn="l" defTabSz="914400">
              <a:lnSpc>
                <a:spcPct val="91666"/>
              </a:lnSpc>
              <a:defRPr sz="2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 defTabSz="914400">
              <a:lnSpc>
                <a:spcPct val="91666"/>
              </a:lnSpc>
              <a:spcBef>
                <a:spcPts val="1000"/>
              </a:spcBef>
            </a:pPr>
            <a:r>
              <a:rPr lang="en-US" sz="2400" b="1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marL="584200" indent="-355600" algn="l" defTabSz="914400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  <a:p>
            <a:pPr marL="685800" lvl="1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二级</a:t>
            </a:r>
          </a:p>
          <a:p>
            <a:pPr marL="1143000" lvl="2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三级</a:t>
            </a:r>
          </a:p>
          <a:p>
            <a:pPr marL="1600200" lvl="3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四级</a:t>
            </a:r>
          </a:p>
          <a:p>
            <a:pPr marL="2057400" lvl="4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五级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2026/7/10</a:t>
            </a:r>
          </a:p>
        </p:txBody>
      </p:sp>
      <p:sp>
        <p:nvSpPr>
          <p:cNvPr id="8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9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A976DAD3-FB60-4E4B-8158-EDE5EE01F842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2026/7/10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6AF5FE9B-E344-4D0B-B3F4-82BE3932FD3A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2026/7/10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DEA7A920-967D-48B5-B5A7-386B1FFF3B5A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914400">
              <a:lnSpc>
                <a:spcPct val="91666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rmAutofit/>
          </a:bodyPr>
          <a:lstStyle>
            <a:lvl1pPr marL="635000" indent="-406400" algn="l" defTabSz="914400">
              <a:lnSpc>
                <a:spcPct val="91666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1041400" indent="-355600"/>
            <a:lvl3pPr marL="1447800" indent="-304800"/>
            <a:lvl4pPr marL="1854200" indent="-254000"/>
            <a:lvl5pPr marL="2311400" indent="-254000"/>
            <a:lvl6pPr marL="2768600" indent="-254000"/>
            <a:lvl7pPr marL="3225800" indent="-254000"/>
            <a:lvl8pPr marL="3683000" indent="-254000"/>
            <a:lvl9pPr marL="4140200" indent="-254000"/>
          </a:lstStyle>
          <a:p>
            <a:pPr marL="228600" indent="-228600" algn="l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  <a:p>
            <a:pPr marL="685800" lvl="1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二级</a:t>
            </a:r>
          </a:p>
          <a:p>
            <a:pPr marL="1143000" lvl="2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三级</a:t>
            </a:r>
          </a:p>
          <a:p>
            <a:pPr marL="1600200" lvl="3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四级</a:t>
            </a:r>
          </a:p>
          <a:p>
            <a:pPr marL="2057400" lvl="4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五级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914400">
              <a:lnSpc>
                <a:spcPct val="91666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 defTabSz="914400">
              <a:lnSpc>
                <a:spcPct val="91666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2026/7/10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33FCC75F-E24C-416A-912D-D32F9DC82661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b">
            <a:normAutofit/>
          </a:bodyPr>
          <a:lstStyle>
            <a:lvl1pPr algn="l" defTabSz="914400">
              <a:lnSpc>
                <a:spcPct val="91666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pic" sz="quarter" idx="49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 defTabSz="914400">
              <a:lnSpc>
                <a:spcPct val="91666"/>
              </a:lnSpc>
              <a:defRPr sz="16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 defTabSz="914400">
              <a:lnSpc>
                <a:spcPct val="91666"/>
              </a:lnSpc>
              <a:spcBef>
                <a:spcPts val="1000"/>
              </a:spcBef>
            </a:pPr>
            <a:r>
              <a:rPr lang="en-US" sz="16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2026/7/10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7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8573DAF1-CB09-4948-807E-7BEB6D4A368F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55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584200" indent="-355600" algn="l" defTabSz="914400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  <a:p>
            <a:pPr marL="685800" lvl="1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二级</a:t>
            </a:r>
          </a:p>
          <a:p>
            <a:pPr marL="1143000" lvl="2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三级</a:t>
            </a:r>
          </a:p>
          <a:p>
            <a:pPr marL="1600200" lvl="3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四级</a:t>
            </a:r>
          </a:p>
          <a:p>
            <a:pPr marL="2057400" lvl="4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五级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2026/7/10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689312C0-6A9A-458D-BFE7-1513792601F1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9" hasCustomPrompt="1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0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60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eaVert" wrap="square" lIns="91440" tIns="45720" rIns="91440" bIns="45720" anchor="t">
            <a:normAutofit/>
          </a:bodyPr>
          <a:lstStyle>
            <a:lvl1pPr marL="584200" indent="-355600" algn="l" defTabSz="914400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  <a:p>
            <a:pPr marL="685800" lvl="1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二级</a:t>
            </a:r>
          </a:p>
          <a:p>
            <a:pPr marL="1143000" lvl="2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三级</a:t>
            </a:r>
          </a:p>
          <a:p>
            <a:pPr marL="1600200" lvl="3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四级</a:t>
            </a:r>
          </a:p>
          <a:p>
            <a:pPr marL="2057400" lvl="4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五级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2026/7/10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0579D51E-7000-4F09-8576-F782601EA833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46955"/>
            <a:ext cx="12192000" cy="6211045"/>
          </a:xfrm>
          <a:prstGeom prst="rect">
            <a:avLst/>
          </a:prstGeom>
          <a:solidFill>
            <a:srgbClr val="DAE3F3">
              <a:alpha val="10000"/>
            </a:srgbClr>
          </a:solid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46955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52400" dist="152400" dir="5400000" algn="t" rotWithShape="0">
              <a:srgbClr val="DAE3F3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rPr>
              <a:t> </a:t>
            </a: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-1316" y="157544"/>
            <a:ext cx="494464" cy="331866"/>
            <a:chOff x="-1316" y="157544"/>
            <a:chExt cx="494464" cy="331866"/>
          </a:xfrm>
        </p:grpSpPr>
        <p:sp>
          <p:nvSpPr>
            <p:cNvPr id="5" name="AutoShape 5"/>
            <p:cNvSpPr/>
            <p:nvPr/>
          </p:nvSpPr>
          <p:spPr>
            <a:xfrm>
              <a:off x="-1316" y="157544"/>
              <a:ext cx="333206" cy="331866"/>
            </a:xfrm>
            <a:prstGeom prst="roundRect">
              <a:avLst>
                <a:gd name="adj" fmla="val 0"/>
              </a:avLst>
            </a:prstGeom>
            <a:solidFill>
              <a:srgbClr val="4472C4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 defTabSz="914400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407356" y="157544"/>
              <a:ext cx="85792" cy="331866"/>
            </a:xfrm>
            <a:prstGeom prst="roundRect">
              <a:avLst>
                <a:gd name="adj" fmla="val 0"/>
              </a:avLst>
            </a:prstGeom>
            <a:solidFill>
              <a:srgbClr val="A5A5A5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marL="0" indent="0" algn="ctr" defTabSz="914400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等线"/>
                  <a:ea typeface="等线"/>
                  <a:cs typeface="等线"/>
                  <a:sym typeface="等线"/>
                </a:rPr>
                <a:t> </a:t>
              </a:r>
              <a:endParaRPr lang="en-US" sz="1100"/>
            </a:p>
          </p:txBody>
        </p:sp>
      </p:grpSp>
      <p:sp>
        <p:nvSpPr>
          <p:cNvPr id="7" name="AutoShape 7"/>
          <p:cNvSpPr>
            <a:spLocks noGrp="1"/>
          </p:cNvSpPr>
          <p:nvPr>
            <p:ph type="body" sz="quarter" idx="64" hasCustomPrompt="1"/>
          </p:nvPr>
        </p:nvSpPr>
        <p:spPr>
          <a:xfrm>
            <a:off x="697807" y="135992"/>
            <a:ext cx="6102385" cy="3749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0" tIns="36000" rIns="0" bIns="0" anchor="t">
            <a:spAutoFit/>
          </a:bodyPr>
          <a:lstStyle>
            <a:lvl1pPr algn="l" defTabSz="914400">
              <a:lnSpc>
                <a:spcPct val="91666"/>
              </a:lnSpc>
              <a:defRPr sz="2400" b="1" i="0" u="none" strike="noStrike" spc="0">
                <a:solidFill>
                  <a:srgbClr val="203864">
                    <a:alpha val="100000"/>
                  </a:srgbClr>
                </a:solidFill>
                <a:latin typeface="微软雅黑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2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标题内容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alphaModFix amt="7000"/>
          </a:blip>
          <a:srcRect b="23661"/>
          <a:stretch>
            <a:fillRect/>
          </a:stretch>
        </p:blipFill>
        <p:spPr>
          <a:xfrm>
            <a:off x="0" y="646955"/>
            <a:ext cx="12192000" cy="621104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042234" y="-531440"/>
            <a:ext cx="2149766" cy="17906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自定义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rmAutofit/>
          </a:bodyPr>
          <a:lstStyle>
            <a:lvl1pPr algn="l" defTabSz="914400">
              <a:lnSpc>
                <a:spcPct val="91666"/>
              </a:lnSpc>
              <a:defRPr sz="44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 defTabSz="914400">
              <a:lnSpc>
                <a:spcPct val="91666"/>
              </a:lnSpc>
            </a:pPr>
            <a:r>
              <a:rPr lang="en-US" sz="4400" b="1" i="0" u="none" strike="noStrike">
                <a:solidFill>
                  <a:srgbClr val="000000"/>
                </a:solidFill>
                <a:latin typeface="等线 Light"/>
                <a:ea typeface="等线 Light"/>
                <a:cs typeface="等线 Light"/>
                <a:sym typeface="等线 Light"/>
              </a:rPr>
              <a:t>单击此处编辑母版标题样式</a:t>
            </a:r>
          </a:p>
        </p:txBody>
      </p:sp>
      <p:sp>
        <p:nvSpPr>
          <p:cNvPr id="2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t">
            <a:normAutofit/>
          </a:bodyPr>
          <a:lstStyle>
            <a:lvl1pPr marL="584200" indent="-355600" algn="l" defTabSz="914400">
              <a:lnSpc>
                <a:spcPct val="91666"/>
              </a:lnSpc>
              <a:defRPr sz="2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  <a:lvl2pPr marL="990600" indent="-304800"/>
            <a:lvl3pPr marL="1397000" indent="-254000"/>
            <a:lvl4pPr marL="1828800" indent="-228600"/>
            <a:lvl5pPr marL="2286000" indent="-228600"/>
            <a:lvl6pPr marL="2743200" indent="-228600"/>
            <a:lvl7pPr marL="3200400" indent="-228600"/>
            <a:lvl8pPr marL="3657600" indent="-228600"/>
            <a:lvl9pPr marL="4114800" indent="-228600"/>
          </a:lstStyle>
          <a:p>
            <a:pPr marL="228600" indent="-228600" algn="l" defTabSz="914400">
              <a:lnSpc>
                <a:spcPct val="91666"/>
              </a:lnSpc>
              <a:spcBef>
                <a:spcPts val="10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单击此处编辑母版文本样式</a:t>
            </a:r>
          </a:p>
          <a:p>
            <a:pPr marL="685800" lvl="1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二级</a:t>
            </a:r>
          </a:p>
          <a:p>
            <a:pPr marL="1143000" lvl="2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三级</a:t>
            </a:r>
          </a:p>
          <a:p>
            <a:pPr marL="1600200" lvl="3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四级</a:t>
            </a:r>
          </a:p>
          <a:p>
            <a:pPr marL="2057400" lvl="4" indent="-228600" algn="l" defTabSz="914400">
              <a:lnSpc>
                <a:spcPct val="91666"/>
              </a:lnSpc>
              <a:spcBef>
                <a:spcPts val="5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五级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l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2026/7/10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ctr" defTabSz="914400">
              <a:lnSpc>
                <a:spcPct val="100000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 defTabSz="914400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Footer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r" defTabSz="914400">
              <a:lnSpc>
                <a:spcPct val="100000"/>
              </a:lnSpc>
              <a:defRPr sz="1200" b="0" i="0" u="none" strike="noStrike" spc="0">
                <a:solidFill>
                  <a:srgbClr val="898989">
                    <a:alpha val="100000"/>
                  </a:srgbClr>
                </a:solidFill>
                <a:latin typeface="等线"/>
              </a:defRPr>
            </a:lvl1pPr>
          </a:lstStyle>
          <a:p>
            <a:pPr marL="0" indent="0" algn="r" defTabSz="914400">
              <a:lnSpc>
                <a:spcPct val="100000"/>
              </a:lnSpc>
            </a:pPr>
            <a:fld id="{7C1FC753-7D45-44BD-A6DB-881735CC0D43}" type="slidenum">
              <a:rPr sz="1200" b="0" i="0" u="none" strike="noStrike">
                <a:solidFill>
                  <a:srgbClr val="898989"/>
                </a:solidFill>
                <a:latin typeface="等线"/>
                <a:ea typeface="等线"/>
                <a:cs typeface="等线"/>
                <a:sym typeface="等线"/>
              </a:rPr>
              <a:t>‹#›</a:t>
            </a:fld>
            <a:endParaRPr sz="1200" b="0" i="0" u="none" strike="noStrike">
              <a:solidFill>
                <a:srgbClr val="898989"/>
              </a:solidFill>
              <a:latin typeface="等线"/>
              <a:ea typeface="等线"/>
              <a:cs typeface="等线"/>
              <a:sym typeface="等线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57483700" r:id="rId1"/>
    <p:sldLayoutId id="2157483701" r:id="rId2"/>
    <p:sldLayoutId id="2157483702" r:id="rId3"/>
    <p:sldLayoutId id="2157483703" r:id="rId4"/>
    <p:sldLayoutId id="2157483704" r:id="rId5"/>
    <p:sldLayoutId id="2157483705" r:id="rId6"/>
    <p:sldLayoutId id="2157483706" r:id="rId7"/>
    <p:sldLayoutId id="2157483707" r:id="rId8"/>
    <p:sldLayoutId id="2157483708" r:id="rId9"/>
    <p:sldLayoutId id="2157483709" r:id="rId10"/>
    <p:sldLayoutId id="2157483710" r:id="rId11"/>
    <p:sldLayoutId id="215748371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46955"/>
            <a:ext cx="12192000" cy="6211045"/>
          </a:xfrm>
          <a:prstGeom prst="roundRect">
            <a:avLst>
              <a:gd name="adj" fmla="val 0"/>
            </a:avLst>
          </a:prstGeom>
          <a:solidFill>
            <a:srgbClr val="DAE3F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46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152400" dir="5400000" algn="t">
              <a:srgbClr val="DAE3F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1316" y="157544"/>
            <a:ext cx="333206" cy="331866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07356" y="157544"/>
            <a:ext cx="85792" cy="331866"/>
          </a:xfrm>
          <a:prstGeom prst="roundRect">
            <a:avLst>
              <a:gd name="adj" fmla="val 0"/>
            </a:avLst>
          </a:pr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7000"/>
          </a:blip>
          <a:srcRect b="23661"/>
          <a:stretch>
            <a:fillRect/>
          </a:stretch>
        </p:blipFill>
        <p:spPr>
          <a:xfrm>
            <a:off x="0" y="646955"/>
            <a:ext cx="12192000" cy="621104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042234" y="-531440"/>
            <a:ext cx="2149766" cy="1790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2680063" y="1447521"/>
            <a:ext cx="6831874" cy="7694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zh-CN" altLang="en-US" sz="4400" b="0" i="0" u="none" strike="noStrike" dirty="0">
                <a:solidFill>
                  <a:srgbClr val="000000"/>
                </a:solidFill>
                <a:latin typeface="方正小标宋简体"/>
                <a:ea typeface="方正小标宋简体"/>
                <a:cs typeface="方正小标宋简体"/>
                <a:sym typeface="方正小标宋简体"/>
              </a:rPr>
              <a:t>数据工作及</a:t>
            </a:r>
            <a:r>
              <a:rPr lang="en-US" sz="4400" b="0" i="0" u="none" strike="noStrike" dirty="0" err="1">
                <a:solidFill>
                  <a:srgbClr val="000000"/>
                </a:solidFill>
                <a:latin typeface="方正小标宋简体"/>
                <a:ea typeface="方正小标宋简体"/>
                <a:cs typeface="方正小标宋简体"/>
                <a:sym typeface="方正小标宋简体"/>
              </a:rPr>
              <a:t>技术调研汇报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2112917" y="3285468"/>
            <a:ext cx="7966166" cy="5232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2800" b="0" i="0" u="none" strike="noStrike" dirty="0" err="1">
                <a:solidFill>
                  <a:srgbClr val="000000"/>
                </a:solidFill>
                <a:latin typeface="方正小标宋简体"/>
                <a:ea typeface="方正小标宋简体"/>
                <a:cs typeface="方正小标宋简体"/>
                <a:sym typeface="方正小标宋简体"/>
              </a:rPr>
              <a:t>基于AIGC</a:t>
            </a:r>
            <a:r>
              <a:rPr lang="zh-CN" altLang="en-US" sz="2800" dirty="0">
                <a:latin typeface="方正小标宋简体"/>
                <a:ea typeface="方正小标宋简体"/>
                <a:cs typeface="方正小标宋简体"/>
                <a:sym typeface="方正小标宋简体"/>
              </a:rPr>
              <a:t>的戏曲语音合成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7918268" y="4877194"/>
            <a:ext cx="3187337" cy="8744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l" defTabSz="914400">
              <a:lnSpc>
                <a:spcPct val="150000"/>
              </a:lnSpc>
              <a:defRPr/>
            </a:pPr>
            <a:r>
              <a:rPr lang="en-US" sz="18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汇报人：董文政</a:t>
            </a:r>
            <a:endParaRPr lang="en-US" sz="1100"/>
          </a:p>
          <a:p>
            <a:pPr marL="0" indent="0" algn="l" defTabSz="914400">
              <a:lnSpc>
                <a:spcPct val="150000"/>
              </a:lnSpc>
            </a:pPr>
            <a:r>
              <a:rPr lang="en-US" sz="18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汇报日期：2026年9月23日</a:t>
            </a:r>
          </a:p>
        </p:txBody>
      </p:sp>
      <p:sp>
        <p:nvSpPr>
          <p:cNvPr id="11" name="AutoShape 11"/>
          <p:cNvSpPr/>
          <p:nvPr/>
        </p:nvSpPr>
        <p:spPr>
          <a:xfrm>
            <a:off x="0" y="0"/>
            <a:ext cx="12192000" cy="646331"/>
          </a:xfrm>
          <a:prstGeom prst="roundRect">
            <a:avLst>
              <a:gd name="adj" fmla="val 0"/>
            </a:avLst>
          </a:prstGeom>
          <a:solidFill>
            <a:srgbClr val="F2F8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 dirty="0"/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FB3C16AB-1ACB-DEFE-90BF-DFE0263E15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042271" y="-531495"/>
            <a:ext cx="2149729" cy="1790573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46938"/>
            <a:ext cx="12192000" cy="6211062"/>
          </a:xfrm>
          <a:prstGeom prst="roundRect">
            <a:avLst>
              <a:gd name="adj" fmla="val 0"/>
            </a:avLst>
          </a:prstGeom>
          <a:solidFill>
            <a:srgbClr val="DAE3F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4693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152400" dir="5400000" algn="t">
              <a:srgbClr val="DAE3F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1270" y="157480"/>
            <a:ext cx="333248" cy="331851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07416" y="157480"/>
            <a:ext cx="85852" cy="331851"/>
          </a:xfrm>
          <a:prstGeom prst="roundRect">
            <a:avLst>
              <a:gd name="adj" fmla="val 0"/>
            </a:avLst>
          </a:pr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7000"/>
          </a:blip>
          <a:srcRect b="23660"/>
          <a:stretch>
            <a:fillRect/>
          </a:stretch>
        </p:blipFill>
        <p:spPr>
          <a:xfrm>
            <a:off x="0" y="646938"/>
            <a:ext cx="12192000" cy="6211062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042271" y="-531495"/>
            <a:ext cx="2149729" cy="1790573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698500" y="1397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项目背景与本轮调研范围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914400"/>
            <a:ext cx="546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华康俪金黑W8(P)"/>
                <a:ea typeface="华康俪金黑W8(P)"/>
                <a:cs typeface="华康俪金黑W8(P)"/>
                <a:sym typeface="华康俪金黑W8(P)"/>
              </a:rPr>
              <a:t>一、项目四条技术主线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7362">
            <a:off x="660416" y="1339850"/>
            <a:ext cx="2514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472C4">
                <a:alpha val="100000"/>
              </a:srgbClr>
            </a:solidFill>
            <a:prstDash val="dashDot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660400" y="1524000"/>
            <a:ext cx="5334000" cy="584200"/>
          </a:xfrm>
          <a:prstGeom prst="roundRect">
            <a:avLst>
              <a:gd name="adj" fmla="val 13043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524000"/>
            <a:ext cx="508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5833"/>
              </a:lnSpc>
              <a:defRPr/>
            </a:pPr>
            <a:r>
              <a:rPr lang="en-US" sz="1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多模态数据集</a:t>
            </a:r>
            <a:r>
              <a:rPr lang="en-US" sz="13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　采集多流派名家唱段曲词/音频/视频，构建可追溯高质量数据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" y="2209800"/>
            <a:ext cx="5334000" cy="584200"/>
          </a:xfrm>
          <a:prstGeom prst="roundRect">
            <a:avLst>
              <a:gd name="adj" fmla="val 13043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87400" y="2209800"/>
            <a:ext cx="508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5833"/>
              </a:lnSpc>
              <a:defRPr/>
            </a:pPr>
            <a:r>
              <a:rPr lang="en-US" sz="1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智能编曲生成</a:t>
            </a:r>
            <a:r>
              <a:rPr lang="en-US" sz="13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　从文本到京剧唱段，支持曲词、板腔个性化定制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60400" y="2895600"/>
            <a:ext cx="5334000" cy="584200"/>
          </a:xfrm>
          <a:prstGeom prst="roundRect">
            <a:avLst>
              <a:gd name="adj" fmla="val 13043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87400" y="2895600"/>
            <a:ext cx="508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5833"/>
              </a:lnSpc>
              <a:defRPr/>
            </a:pPr>
            <a:r>
              <a:rPr lang="en-US" sz="1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数字人重建驱动</a:t>
            </a:r>
            <a:r>
              <a:rPr lang="en-US" sz="13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　高精度三维重建与驱动，唱腔与身段、表情同步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0400" y="3581400"/>
            <a:ext cx="5334000" cy="584200"/>
          </a:xfrm>
          <a:prstGeom prst="roundRect">
            <a:avLst>
              <a:gd name="adj" fmla="val 13043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87400" y="3581400"/>
            <a:ext cx="508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5833"/>
              </a:lnSpc>
              <a:defRPr/>
            </a:pPr>
            <a:r>
              <a:rPr lang="en-US" sz="1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沉浸式交互</a:t>
            </a:r>
            <a:r>
              <a:rPr lang="en-US" sz="13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　形成“声情并茂”的京剧互动演绎体验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914400"/>
            <a:ext cx="546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华康俪金黑W8(P)"/>
                <a:ea typeface="华康俪金黑W8(P)"/>
                <a:cs typeface="华康俪金黑W8(P)"/>
                <a:sym typeface="华康俪金黑W8(P)"/>
              </a:rPr>
              <a:t>二、本轮 8 篇文献方向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7362">
            <a:off x="6375416" y="1339850"/>
            <a:ext cx="2514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472C4">
                <a:alpha val="100000"/>
              </a:srgbClr>
            </a:solidFill>
            <a:prstDash val="dashDot"/>
            <a:round/>
            <a:headEnd type="none" w="lg" len="lg"/>
            <a:tailEnd type="none" w="lg" len="lg"/>
          </a:ln>
        </p:spPr>
      </p:cxnSp>
      <p:sp>
        <p:nvSpPr>
          <p:cNvPr id="21" name="AutoShape 21"/>
          <p:cNvSpPr/>
          <p:nvPr/>
        </p:nvSpPr>
        <p:spPr>
          <a:xfrm>
            <a:off x="6375400" y="1524000"/>
            <a:ext cx="5207000" cy="584200"/>
          </a:xfrm>
          <a:prstGeom prst="roundRect">
            <a:avLst>
              <a:gd name="adj" fmla="val 13043"/>
            </a:avLst>
          </a:prstGeom>
          <a:solidFill>
            <a:srgbClr val="DAE3F3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502400" y="1524000"/>
            <a:ext cx="4978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5833"/>
              </a:lnSpc>
              <a:defRPr/>
            </a:pPr>
            <a:r>
              <a:rPr lang="en-US" sz="1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通用听觉智能框架</a:t>
            </a:r>
            <a:r>
              <a:rPr lang="en-US" sz="13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　清华《自然·机器智能》综述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75400" y="2209800"/>
            <a:ext cx="5207000" cy="584200"/>
          </a:xfrm>
          <a:prstGeom prst="roundRect">
            <a:avLst>
              <a:gd name="adj" fmla="val 13043"/>
            </a:avLst>
          </a:prstGeom>
          <a:solidFill>
            <a:srgbClr val="DAE3F3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502400" y="2209800"/>
            <a:ext cx="4978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5833"/>
              </a:lnSpc>
              <a:defRPr/>
            </a:pPr>
            <a:r>
              <a:rPr lang="en-US" sz="1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音乐/歌曲生成基座</a:t>
            </a:r>
            <a:r>
              <a:rPr lang="en-US" sz="13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　韶元 Shao 1.0、LeVo 2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75400" y="2895600"/>
            <a:ext cx="5207000" cy="584200"/>
          </a:xfrm>
          <a:prstGeom prst="roundRect">
            <a:avLst>
              <a:gd name="adj" fmla="val 13043"/>
            </a:avLst>
          </a:prstGeom>
          <a:solidFill>
            <a:srgbClr val="DAE3F3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502400" y="2895600"/>
            <a:ext cx="4978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5833"/>
              </a:lnSpc>
              <a:defRPr/>
            </a:pPr>
            <a:r>
              <a:rPr lang="en-US" sz="1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可控语音与数据工程</a:t>
            </a:r>
            <a:r>
              <a:rPr lang="en-US" sz="13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　WordVoice、TTS 清洗增强策略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75400" y="3581400"/>
            <a:ext cx="5207000" cy="584200"/>
          </a:xfrm>
          <a:prstGeom prst="roundRect">
            <a:avLst>
              <a:gd name="adj" fmla="val 13043"/>
            </a:avLst>
          </a:prstGeom>
          <a:solidFill>
            <a:srgbClr val="DAE3F3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502400" y="3581400"/>
            <a:ext cx="49784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5833"/>
              </a:lnSpc>
              <a:defRPr/>
            </a:pPr>
            <a:r>
              <a:rPr lang="en-US" sz="1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鲁棒识别与音频分离</a:t>
            </a:r>
            <a:r>
              <a:rPr lang="en-US" sz="13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　Mega-ASR、SAM Audio、VITA-QinYu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" y="4572000"/>
            <a:ext cx="10922000" cy="711200"/>
          </a:xfrm>
          <a:prstGeom prst="roundRect">
            <a:avLst>
              <a:gd name="adj" fmla="val 14285"/>
            </a:avLst>
          </a:prstGeom>
          <a:solidFill>
            <a:srgbClr val="4472C4">
              <a:alpha val="12000"/>
            </a:srgbClr>
          </a:solidFill>
          <a:ln w="12700" cap="flat" cmpd="sng">
            <a:solidFill>
              <a:srgbClr val="4472C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787400" y="4572000"/>
            <a:ext cx="10668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1300" b="1" i="0" u="none" strike="noStrike">
                <a:solidFill>
                  <a:srgbClr val="C0392B"/>
                </a:solidFill>
                <a:latin typeface="微软雅黑"/>
                <a:ea typeface="微软雅黑"/>
                <a:cs typeface="微软雅黑"/>
                <a:sym typeface="微软雅黑"/>
              </a:rPr>
              <a:t>范围边界：</a:t>
            </a:r>
            <a:r>
              <a:rPr lang="en-US" sz="13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本轮 8 篇均聚焦语音与音乐智能，未涉及三维人体参数估计、动作生成与神经渲染；数字人“身段与表情生成”需另作专项调研（SMPL-X、语音驱动动作、可动画数字人）。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46938"/>
            <a:ext cx="12192000" cy="6211062"/>
          </a:xfrm>
          <a:prstGeom prst="roundRect">
            <a:avLst>
              <a:gd name="adj" fmla="val 0"/>
            </a:avLst>
          </a:prstGeom>
          <a:solidFill>
            <a:srgbClr val="DAE3F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4693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152400" dir="5400000" algn="t">
              <a:srgbClr val="DAE3F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1270" y="157480"/>
            <a:ext cx="333248" cy="331851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07416" y="157480"/>
            <a:ext cx="85852" cy="331851"/>
          </a:xfrm>
          <a:prstGeom prst="roundRect">
            <a:avLst>
              <a:gd name="adj" fmla="val 0"/>
            </a:avLst>
          </a:pr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7000"/>
          </a:blip>
          <a:srcRect b="23660"/>
          <a:stretch>
            <a:fillRect/>
          </a:stretch>
        </p:blipFill>
        <p:spPr>
          <a:xfrm>
            <a:off x="0" y="646938"/>
            <a:ext cx="12192000" cy="6211062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042271" y="-531495"/>
            <a:ext cx="2149729" cy="1790573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698500" y="1397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八篇文献成果速览（按与项目贴近度排序）</a:t>
            </a:r>
            <a:endParaRPr lang="en-US" sz="110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635000" y="990600"/>
          <a:ext cx="10922000" cy="47574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代表工作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核心结论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对项目价值与许可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20386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清华《自然·机器智能》综述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通用听觉智能框架：统一音频表征、理解生成协同、全双工、音视频一体推理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整体架构指导；关注 3D 视听空间推理与可信听觉治理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20386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中央音乐学院 韶元 Shao 1.0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64 层统一声学词元、粗到细两阶段生成，长时高保真歌曲与歌词时序绑定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0392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智能编曲与唱腔生成重要基座；权重 CC BY-NC 不可商用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20386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WordVoice / WordVoice-5A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字级五维声学控制（时长/停顿/能量/音高/音调），4.7k 小时标注双模型对齐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咬字、板式节奏与口型对齐；代码权重 Apache-2.0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20386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LeVo 2 / SongGeneration 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腾讯/清华/武大 4B 歌曲生成，PER 8.55%，分层表征+三阶段审美后训练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0392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整曲结构与歌词幻觉抑制；协议限学术研究用途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20386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Meta SAM Audio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文本/视觉/时间三类提示定位并分割声源，输出目标+残差两轨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老旧音视频人声分离、自动标注；权重需 HF 申请访问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20386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Mega-ASR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基于 Qwen3-ASR-1.7B，2.4M 样本、54 种复合噪声场景，抗噪与语义恢复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老旧录音转写与数据治理；Apache-2.0 可商用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20386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TTS 数据清洗与扩增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目标波形保持干净，在频谱/特征层注入噪声与 SpecAugment 增强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京剧唱腔数据管线工程原则；需自建清洗指标与基准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1" i="0" u="none" strike="noStrike">
                          <a:solidFill>
                            <a:srgbClr val="20386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VITA-QinYu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端到端对话+角色音色+唱歌统一模型，Text-to-Timbre 动态音色控制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C0392B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数字人角色语音统一建模；唱歌权重未开放，限学术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46938"/>
            <a:ext cx="12192000" cy="6211062"/>
          </a:xfrm>
          <a:prstGeom prst="roundRect">
            <a:avLst>
              <a:gd name="adj" fmla="val 0"/>
            </a:avLst>
          </a:prstGeom>
          <a:solidFill>
            <a:srgbClr val="DAE3F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4693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152400" dir="5400000" algn="t">
              <a:srgbClr val="DAE3F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1270" y="157480"/>
            <a:ext cx="333248" cy="331851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07416" y="157480"/>
            <a:ext cx="85852" cy="331851"/>
          </a:xfrm>
          <a:prstGeom prst="roundRect">
            <a:avLst>
              <a:gd name="adj" fmla="val 0"/>
            </a:avLst>
          </a:pr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7000"/>
          </a:blip>
          <a:srcRect b="23660"/>
          <a:stretch>
            <a:fillRect/>
          </a:stretch>
        </p:blipFill>
        <p:spPr>
          <a:xfrm>
            <a:off x="0" y="646938"/>
            <a:ext cx="12192000" cy="6211062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042271" y="-531495"/>
            <a:ext cx="2149729" cy="1790573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698500" y="1397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韶元 Shao 1.0：长时高保真音乐生成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889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0" i="0" u="none" strike="noStrike">
                <a:solidFill>
                  <a:srgbClr val="1F2329"/>
                </a:solidFill>
                <a:latin typeface="华康俪金黑W8(P)"/>
                <a:ea typeface="华康俪金黑W8(P)"/>
                <a:cs typeface="华康俪金黑W8(P)"/>
                <a:sym typeface="华康俪金黑W8(P)"/>
              </a:rPr>
              <a:t>技术要点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29132">
            <a:off x="660427" y="1301750"/>
            <a:ext cx="1498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472C4">
                <a:alpha val="100000"/>
              </a:srgbClr>
            </a:solidFill>
            <a:prstDash val="dashDot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635000" y="1447800"/>
            <a:ext cx="5397500" cy="736600"/>
          </a:xfrm>
          <a:prstGeom prst="roundRect">
            <a:avLst>
              <a:gd name="adj" fmla="val 10344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447800"/>
            <a:ext cx="51435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64 层 RVQ 统一声学词元</a:t>
            </a:r>
            <a:br>
              <a:rPr lang="en-US" sz="125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把音乐组织为从粗到细的统一离散空间，同时建模整体结构与细节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" y="2286000"/>
            <a:ext cx="5397500" cy="736600"/>
          </a:xfrm>
          <a:prstGeom prst="roundRect">
            <a:avLst>
              <a:gd name="adj" fmla="val 10344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87400" y="2286000"/>
            <a:ext cx="51435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粗到细两阶段生成</a:t>
            </a:r>
            <a:br>
              <a:rPr lang="en-US" sz="125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先生成粗层骨架、再逐层补全细节，全曲尺度超分辨率重建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" y="3124200"/>
            <a:ext cx="5397500" cy="736600"/>
          </a:xfrm>
          <a:prstGeom prst="roundRect">
            <a:avLst>
              <a:gd name="adj" fmla="val 10344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87400" y="3124200"/>
            <a:ext cx="51435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歌词时序绑定</a:t>
            </a:r>
            <a:br>
              <a:rPr lang="en-US" sz="125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强化歌词与音频时间轴对应，抑制错位、漏唱、含混发音与“AI 语”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" y="3962400"/>
            <a:ext cx="5397500" cy="635000"/>
          </a:xfrm>
          <a:prstGeom prst="roundRect">
            <a:avLst>
              <a:gd name="adj" fmla="val 12000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87400" y="3962400"/>
            <a:ext cx="514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规模与工程</a:t>
            </a: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　16 亿/18 亿参数两版，64×H800 训练，开放论文、权重与推理代码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889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0" i="0" u="none" strike="noStrike">
                <a:solidFill>
                  <a:srgbClr val="1F2329"/>
                </a:solidFill>
                <a:latin typeface="华康俪金黑W8(P)"/>
                <a:ea typeface="华康俪金黑W8(P)"/>
                <a:cs typeface="华康俪金黑W8(P)"/>
                <a:sym typeface="华康俪金黑W8(P)"/>
              </a:rPr>
              <a:t>项目落地与边界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1757">
            <a:off x="6375420" y="1301750"/>
            <a:ext cx="2006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472C4">
                <a:alpha val="100000"/>
              </a:srgbClr>
            </a:solidFill>
            <a:prstDash val="dashDot"/>
            <a:round/>
            <a:headEnd type="none" w="lg" len="lg"/>
            <a:tailEnd type="none" w="lg" len="lg"/>
          </a:ln>
        </p:spPr>
      </p:cxnSp>
      <p:sp>
        <p:nvSpPr>
          <p:cNvPr id="21" name="AutoShape 21"/>
          <p:cNvSpPr/>
          <p:nvPr/>
        </p:nvSpPr>
        <p:spPr>
          <a:xfrm>
            <a:off x="6350000" y="1447800"/>
            <a:ext cx="5207000" cy="1092200"/>
          </a:xfrm>
          <a:prstGeom prst="roundRect">
            <a:avLst>
              <a:gd name="adj" fmla="val 6976"/>
            </a:avLst>
          </a:prstGeom>
          <a:solidFill>
            <a:srgbClr val="4472C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502400" y="1447800"/>
            <a:ext cx="4953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5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定位：智能编曲最直接基座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优先复用其统一声学词元与歌词时序绑定，将通用歌曲生成改造为京剧唱腔，补充西皮、二黄板式与流派风格约束。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350000" y="2641600"/>
            <a:ext cx="5207000" cy="1092200"/>
          </a:xfrm>
          <a:prstGeom prst="roundRect">
            <a:avLst>
              <a:gd name="adj" fmla="val 6976"/>
            </a:avLst>
          </a:prstGeom>
          <a:solidFill>
            <a:srgbClr val="C0392B">
              <a:alpha val="8000"/>
            </a:srgbClr>
          </a:solidFill>
          <a:ln w="12700" cap="flat" cmpd="sng">
            <a:solidFill>
              <a:srgbClr val="C039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502400" y="2641600"/>
            <a:ext cx="4953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50" b="1" i="0" u="none" strike="noStrike">
                <a:solidFill>
                  <a:srgbClr val="C0392B"/>
                </a:solidFill>
                <a:latin typeface="微软雅黑"/>
                <a:ea typeface="微软雅黑"/>
                <a:cs typeface="微软雅黑"/>
                <a:sym typeface="微软雅黑"/>
              </a:rPr>
              <a:t>许可与硬件门槛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权重 CC BY-NC 4.0，不可直接商用；推理需 24GB 以上显存，对 GPU 架构、CUDA 与 Megatron 环境敏感，建议按官方 NGC 容器复现。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350000" y="3835400"/>
            <a:ext cx="5207000" cy="711200"/>
          </a:xfrm>
          <a:prstGeom prst="roundRect">
            <a:avLst>
              <a:gd name="adj" fmla="val 10714"/>
            </a:avLst>
          </a:prstGeom>
          <a:solidFill>
            <a:srgbClr val="DAE3F3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502400" y="3835400"/>
            <a:ext cx="4953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适合做原型验证与唱腔韵味对比；产品化前须完成许可核查与领域微调。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46938"/>
            <a:ext cx="12192000" cy="6211062"/>
          </a:xfrm>
          <a:prstGeom prst="roundRect">
            <a:avLst>
              <a:gd name="adj" fmla="val 0"/>
            </a:avLst>
          </a:prstGeom>
          <a:solidFill>
            <a:srgbClr val="DAE3F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4693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152400" dir="5400000" algn="t">
              <a:srgbClr val="DAE3F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1270" y="157480"/>
            <a:ext cx="333248" cy="331851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07416" y="157480"/>
            <a:ext cx="85852" cy="331851"/>
          </a:xfrm>
          <a:prstGeom prst="roundRect">
            <a:avLst>
              <a:gd name="adj" fmla="val 0"/>
            </a:avLst>
          </a:pr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7000"/>
          </a:blip>
          <a:srcRect b="23660"/>
          <a:stretch>
            <a:fillRect/>
          </a:stretch>
        </p:blipFill>
        <p:spPr>
          <a:xfrm>
            <a:off x="0" y="646938"/>
            <a:ext cx="12192000" cy="6211062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042271" y="-531495"/>
            <a:ext cx="2149729" cy="1790573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698500" y="1397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WordVoice：字级可控语音合成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889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0" i="0" u="none" strike="noStrike">
                <a:solidFill>
                  <a:srgbClr val="1F2329"/>
                </a:solidFill>
                <a:latin typeface="华康俪金黑W8(P)"/>
                <a:ea typeface="华康俪金黑W8(P)"/>
                <a:cs typeface="华康俪金黑W8(P)"/>
                <a:sym typeface="华康俪金黑W8(P)"/>
              </a:rPr>
              <a:t>技术要点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29132">
            <a:off x="660427" y="1301750"/>
            <a:ext cx="1498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472C4">
                <a:alpha val="100000"/>
              </a:srgbClr>
            </a:solidFill>
            <a:prstDash val="dashDot"/>
            <a:round/>
            <a:headEnd type="none" w="lg" len="lg"/>
            <a:tailEnd type="none" w="lg" len="lg"/>
          </a:ln>
        </p:spPr>
      </p:cxnSp>
      <p:sp>
        <p:nvSpPr>
          <p:cNvPr id="11" name="AutoShape 11"/>
          <p:cNvSpPr/>
          <p:nvPr/>
        </p:nvSpPr>
        <p:spPr>
          <a:xfrm>
            <a:off x="635000" y="1447800"/>
            <a:ext cx="5397500" cy="736600"/>
          </a:xfrm>
          <a:prstGeom prst="roundRect">
            <a:avLst>
              <a:gd name="adj" fmla="val 10344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447800"/>
            <a:ext cx="51435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字级显式五维控制</a:t>
            </a:r>
            <a:br>
              <a:rPr lang="en-US" sz="125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bound-token 生成每字前先规划时长、停顿、能量、音高、音调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" y="2286000"/>
            <a:ext cx="5397500" cy="736600"/>
          </a:xfrm>
          <a:prstGeom prst="roundRect">
            <a:avLst>
              <a:gd name="adj" fmla="val 10344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87400" y="2286000"/>
            <a:ext cx="51435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Flow Matching 字级调制</a:t>
            </a:r>
            <a:br>
              <a:rPr lang="en-US" sz="125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解码阶段引入字级风格调制，弥补离散 token 导致的细节损失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" y="3124200"/>
            <a:ext cx="5397500" cy="736600"/>
          </a:xfrm>
          <a:prstGeom prst="roundRect">
            <a:avLst>
              <a:gd name="adj" fmla="val 10344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87400" y="3124200"/>
            <a:ext cx="51435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4.7k 小时高质量标注</a:t>
            </a:r>
            <a:br>
              <a:rPr lang="en-US" sz="125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MFA + Qwen3FA 双模型对齐、一致性过滤，仅保留 top 8% 样本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" y="3962400"/>
            <a:ext cx="5397500" cy="635000"/>
          </a:xfrm>
          <a:prstGeom prst="roundRect">
            <a:avLst>
              <a:gd name="adj" fmla="val 12000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87400" y="3962400"/>
            <a:ext cx="514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5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工程边界</a:t>
            </a: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　Qwen2.5-0.5B 主干，8×A800 训练；仅普通话/英语，离线合成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350000" y="889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900" b="0" i="0" u="none" strike="noStrike">
                <a:solidFill>
                  <a:srgbClr val="1F2329"/>
                </a:solidFill>
                <a:latin typeface="华康俪金黑W8(P)"/>
                <a:ea typeface="华康俪金黑W8(P)"/>
                <a:cs typeface="华康俪金黑W8(P)"/>
                <a:sym typeface="华康俪金黑W8(P)"/>
              </a:rPr>
              <a:t>项目落地与边界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1757">
            <a:off x="6375420" y="1301750"/>
            <a:ext cx="20066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4472C4">
                <a:alpha val="100000"/>
              </a:srgbClr>
            </a:solidFill>
            <a:prstDash val="dashDot"/>
            <a:round/>
            <a:headEnd type="none" w="lg" len="lg"/>
            <a:tailEnd type="none" w="lg" len="lg"/>
          </a:ln>
        </p:spPr>
      </p:cxnSp>
      <p:sp>
        <p:nvSpPr>
          <p:cNvPr id="21" name="AutoShape 21"/>
          <p:cNvSpPr/>
          <p:nvPr/>
        </p:nvSpPr>
        <p:spPr>
          <a:xfrm>
            <a:off x="6350000" y="1447800"/>
            <a:ext cx="5207000" cy="1092200"/>
          </a:xfrm>
          <a:prstGeom prst="roundRect">
            <a:avLst>
              <a:gd name="adj" fmla="val 6976"/>
            </a:avLst>
          </a:prstGeom>
          <a:solidFill>
            <a:srgbClr val="4472C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502400" y="1447800"/>
            <a:ext cx="4953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5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定位：咬字与口型对齐最高优先级候选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复用其数据管线产出京剧唱词字级韵律标注；bound-token 约束拖腔、重读与停顿，使音频时长与数字人口型逐字对齐。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6350000" y="2641600"/>
            <a:ext cx="5207000" cy="1092200"/>
          </a:xfrm>
          <a:prstGeom prst="roundRect">
            <a:avLst>
              <a:gd name="adj" fmla="val 6976"/>
            </a:avLst>
          </a:prstGeom>
          <a:solidFill>
            <a:srgbClr val="4472C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502400" y="2641600"/>
            <a:ext cx="4953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5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契合“字正腔圆”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京剧讲究咬字归韵、板式节奏，与字级五维控制高度契合；可作为唱词韵律控制模块的主干。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350000" y="3835400"/>
            <a:ext cx="5207000" cy="711200"/>
          </a:xfrm>
          <a:prstGeom prst="roundRect">
            <a:avLst>
              <a:gd name="adj" fmla="val 10714"/>
            </a:avLst>
          </a:prstGeom>
          <a:solidFill>
            <a:srgbClr val="C0392B">
              <a:alpha val="8000"/>
            </a:srgbClr>
          </a:solidFill>
          <a:ln w="12700" cap="flat" cmpd="sng">
            <a:solidFill>
              <a:srgbClr val="C039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502400" y="3835400"/>
            <a:ext cx="4953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代码与权重 Apache-2.0 可商用；数据集另含单独条款，商用前须核对。控制模式下 WER 会轻微上升。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46938"/>
            <a:ext cx="12192000" cy="6211062"/>
          </a:xfrm>
          <a:prstGeom prst="roundRect">
            <a:avLst>
              <a:gd name="adj" fmla="val 0"/>
            </a:avLst>
          </a:prstGeom>
          <a:solidFill>
            <a:srgbClr val="DAE3F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4693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152400" dir="5400000" algn="t">
              <a:srgbClr val="DAE3F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1270" y="157480"/>
            <a:ext cx="333248" cy="331851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07416" y="157480"/>
            <a:ext cx="85852" cy="331851"/>
          </a:xfrm>
          <a:prstGeom prst="roundRect">
            <a:avLst>
              <a:gd name="adj" fmla="val 0"/>
            </a:avLst>
          </a:pr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7000"/>
          </a:blip>
          <a:srcRect b="23660"/>
          <a:stretch>
            <a:fillRect/>
          </a:stretch>
        </p:blipFill>
        <p:spPr>
          <a:xfrm>
            <a:off x="0" y="646938"/>
            <a:ext cx="12192000" cy="6211062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042271" y="-531495"/>
            <a:ext cx="2149729" cy="1790573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698500" y="1397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开源歌曲生成与端到端音色：LeVo 2 / VITA-QinYu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1270000"/>
            <a:ext cx="5397500" cy="4191000"/>
          </a:xfrm>
          <a:prstGeom prst="roundRect">
            <a:avLst>
              <a:gd name="adj" fmla="val 3030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35000" y="1270000"/>
            <a:ext cx="5397500" cy="508000"/>
          </a:xfrm>
          <a:prstGeom prst="roundRect">
            <a:avLst>
              <a:gd name="adj" fmla="val 2500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87400" y="1270000"/>
            <a:ext cx="514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LeVo 2 / SongGeneration 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" y="1905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开源 4B 歌曲生成基座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输入歌词+文本描述+可选 10 秒参考音频，输出 4 分 30 秒完整歌曲（人声+伴奏）。</a:t>
            </a:r>
          </a:p>
          <a:p>
            <a:pPr marL="0" indent="0" algn="l">
              <a:lnSpc>
                <a:spcPct val="112500"/>
              </a:lnSpc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低歌词幻觉</a:t>
            </a:r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PER 8.55%，低于 Suno v5（12.4%）与 Mureka v8（9.96%）。</a:t>
            </a:r>
          </a:p>
          <a:p>
            <a:pPr marL="0" indent="0" algn="l">
              <a:lnSpc>
                <a:spcPct val="112500"/>
              </a:lnSpc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分层表征 + 审美后训练</a:t>
            </a:r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混合语义/双轨 token 建模；美学预训练+SFT、离线 DPO、半在线 DPO 三阶段。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" y="4546600"/>
            <a:ext cx="5080000" cy="787400"/>
          </a:xfrm>
          <a:prstGeom prst="roundRect">
            <a:avLst>
              <a:gd name="adj" fmla="val 9677"/>
            </a:avLst>
          </a:prstGeom>
          <a:solidFill>
            <a:srgbClr val="C0392B">
              <a:alpha val="8000"/>
            </a:srgbClr>
          </a:solidFill>
          <a:ln w="12700" cap="flat" cmpd="sng">
            <a:solidFill>
              <a:srgbClr val="C039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14400" y="4546600"/>
            <a:ext cx="48768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115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显存 medium≈12GB / large≈22GB；</a:t>
            </a:r>
            <a:r>
              <a:rPr lang="en-US" sz="115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许可限学术研究教育，禁商用生产</a:t>
            </a:r>
            <a:r>
              <a:rPr lang="en-US" sz="115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。可借鉴分层表征与歌词结构标签。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86500" y="1270000"/>
            <a:ext cx="5397500" cy="4191000"/>
          </a:xfrm>
          <a:prstGeom prst="roundRect">
            <a:avLst>
              <a:gd name="adj" fmla="val 3030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286500" y="1270000"/>
            <a:ext cx="5397500" cy="508000"/>
          </a:xfrm>
          <a:prstGeom prst="roundRect">
            <a:avLst>
              <a:gd name="adj" fmla="val 2500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38900" y="1270000"/>
            <a:ext cx="514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VITA-QinYu（腾讯音乐/优图/南大）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64300" y="1905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端到端统一模型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同一模型支持自然对话、文本描述式自定义音色角色扮演与歌唱生成。</a:t>
            </a:r>
          </a:p>
          <a:p>
            <a:pPr marL="0" indent="0" algn="l">
              <a:lnSpc>
                <a:spcPct val="112500"/>
              </a:lnSpc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角色音色一等能力</a:t>
            </a:r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Text-to-Timbre 把角色描述转为说话人嵌入；XY-Tokenizer 重建歌声旋律。</a:t>
            </a:r>
          </a:p>
          <a:p>
            <a:pPr marL="0" indent="0" algn="l">
              <a:lnSpc>
                <a:spcPct val="112500"/>
              </a:lnSpc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避免级联韵律丢失</a:t>
            </a:r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替代 ASR+LLM+TTS 级联，用于数字人角色化语音与唱腔交互原型。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464300" y="4546600"/>
            <a:ext cx="5080000" cy="787400"/>
          </a:xfrm>
          <a:prstGeom prst="roundRect">
            <a:avLst>
              <a:gd name="adj" fmla="val 9677"/>
            </a:avLst>
          </a:prstGeom>
          <a:solidFill>
            <a:srgbClr val="C0392B">
              <a:alpha val="8000"/>
            </a:srgbClr>
          </a:solidFill>
          <a:ln w="12700" cap="flat" cmpd="sng">
            <a:solidFill>
              <a:srgbClr val="C0392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565900" y="4546600"/>
            <a:ext cx="48768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115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说话人相似度约 64%；</a:t>
            </a:r>
            <a:r>
              <a:rPr lang="en-US" sz="115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公开权重不含唱歌功能、限学术用途</a:t>
            </a:r>
            <a:r>
              <a:rPr lang="en-US" sz="115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，专业歌声仍优于自然语言驱动方案。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46938"/>
            <a:ext cx="12192000" cy="6211062"/>
          </a:xfrm>
          <a:prstGeom prst="roundRect">
            <a:avLst>
              <a:gd name="adj" fmla="val 0"/>
            </a:avLst>
          </a:prstGeom>
          <a:solidFill>
            <a:srgbClr val="DAE3F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4693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152400" dir="5400000" algn="t">
              <a:srgbClr val="DAE3F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1270" y="157480"/>
            <a:ext cx="333248" cy="331851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07416" y="157480"/>
            <a:ext cx="85852" cy="331851"/>
          </a:xfrm>
          <a:prstGeom prst="roundRect">
            <a:avLst>
              <a:gd name="adj" fmla="val 0"/>
            </a:avLst>
          </a:pr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7000"/>
          </a:blip>
          <a:srcRect b="23660"/>
          <a:stretch>
            <a:fillRect/>
          </a:stretch>
        </p:blipFill>
        <p:spPr>
          <a:xfrm>
            <a:off x="0" y="646938"/>
            <a:ext cx="12192000" cy="6211062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042271" y="-531495"/>
            <a:ext cx="2149729" cy="1790573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698500" y="1397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数据前处理：SAM Audio 声源分离 与 Mega-ASR 鲁棒转写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1270000"/>
            <a:ext cx="5397500" cy="4191000"/>
          </a:xfrm>
          <a:prstGeom prst="roundRect">
            <a:avLst>
              <a:gd name="adj" fmla="val 3030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35000" y="1270000"/>
            <a:ext cx="5397500" cy="508000"/>
          </a:xfrm>
          <a:prstGeom prst="roundRect">
            <a:avLst>
              <a:gd name="adj" fmla="val 2500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87400" y="1270000"/>
            <a:ext cx="514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Meta SAM Audio（可提示分离）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" y="1905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三种提示定位声源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文本、视觉框选、时间跨度三种提示，零样本分离目标，输出目标+残差两轨。</a:t>
            </a:r>
          </a:p>
          <a:p>
            <a:pPr marL="0" indent="0" algn="l">
              <a:lnSpc>
                <a:spcPct val="112500"/>
              </a:lnSpc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用于历史音视频前处理</a:t>
            </a:r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从含噪演出音频提取人声/单件乐器；借视觉提示锁定舞台上特定演员，自动生成“音频-文本”对。</a:t>
            </a:r>
          </a:p>
          <a:p>
            <a:pPr marL="0" indent="0" algn="l">
              <a:lnSpc>
                <a:spcPct val="112500"/>
              </a:lnSpc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工程前提</a:t>
            </a:r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Python 3.11+ 与 CUDA GPU，Windows 仍为实验阶段。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" y="4546600"/>
            <a:ext cx="5080000" cy="787400"/>
          </a:xfrm>
          <a:prstGeom prst="roundRect">
            <a:avLst>
              <a:gd name="adj" fmla="val 9677"/>
            </a:avLst>
          </a:prstGeom>
          <a:solidFill>
            <a:srgbClr val="DAE3F3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14400" y="4546600"/>
            <a:ext cx="48768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115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权重为定制 SAM 许可，需在 HuggingFace 申请访问；适合作为数据清洗与自动标注工具。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86500" y="1270000"/>
            <a:ext cx="5397500" cy="4191000"/>
          </a:xfrm>
          <a:prstGeom prst="roundRect">
            <a:avLst>
              <a:gd name="adj" fmla="val 3030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286500" y="1270000"/>
            <a:ext cx="5397500" cy="508000"/>
          </a:xfrm>
          <a:prstGeom prst="roundRect">
            <a:avLst>
              <a:gd name="adj" fmla="val 2500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38900" y="1270000"/>
            <a:ext cx="514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Mega-ASR（NTU/NUS/上海AI Lab）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64300" y="1905000"/>
            <a:ext cx="508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复杂环境鲁棒识别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基于 Qwen3-ASR-1.7B，2M 样本覆盖 7 类原子效应、组合 54 种复合噪声场景。</a:t>
            </a:r>
          </a:p>
          <a:p>
            <a:pPr marL="0" indent="0" algn="l">
              <a:lnSpc>
                <a:spcPct val="112500"/>
              </a:lnSpc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用于老旧录音转写</a:t>
            </a:r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对嘈杂京剧录音高质量转写与关键词恢复，为唱词-音频对齐提供可靠文本。</a:t>
            </a:r>
          </a:p>
          <a:p>
            <a:pPr marL="0" indent="0" algn="l">
              <a:lnSpc>
                <a:spcPct val="112500"/>
              </a:lnSpc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工程成本</a:t>
            </a:r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推理约 6–8GB 显存；强化学习代码待发布。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464300" y="4546600"/>
            <a:ext cx="5080000" cy="787400"/>
          </a:xfrm>
          <a:prstGeom prst="roundRect">
            <a:avLst>
              <a:gd name="adj" fmla="val 9677"/>
            </a:avLst>
          </a:prstGeom>
          <a:solidFill>
            <a:srgbClr val="2E7D32">
              <a:alpha val="1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565900" y="4546600"/>
            <a:ext cx="48768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115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代码与模型 Apache-2.0 可商用；偏噪声鲁棒而非戏曲发音规范，需用京剧语料做领域微调。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46938"/>
            <a:ext cx="12192000" cy="6211062"/>
          </a:xfrm>
          <a:prstGeom prst="roundRect">
            <a:avLst>
              <a:gd name="adj" fmla="val 0"/>
            </a:avLst>
          </a:prstGeom>
          <a:solidFill>
            <a:srgbClr val="DAE3F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4693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152400" dir="5400000" algn="t">
              <a:srgbClr val="DAE3F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1270" y="157480"/>
            <a:ext cx="333248" cy="331851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07416" y="157480"/>
            <a:ext cx="85852" cy="331851"/>
          </a:xfrm>
          <a:prstGeom prst="roundRect">
            <a:avLst>
              <a:gd name="adj" fmla="val 0"/>
            </a:avLst>
          </a:pr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7000"/>
          </a:blip>
          <a:srcRect b="23660"/>
          <a:stretch>
            <a:fillRect/>
          </a:stretch>
        </p:blipFill>
        <p:spPr>
          <a:xfrm>
            <a:off x="0" y="646938"/>
            <a:ext cx="12192000" cy="6211062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042271" y="-531495"/>
            <a:ext cx="2149729" cy="1790573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698500" y="1397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架构参考：通用听觉智能综述 与 TTS 数据策略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1270000"/>
            <a:ext cx="5397500" cy="4191000"/>
          </a:xfrm>
          <a:prstGeom prst="roundRect">
            <a:avLst>
              <a:gd name="adj" fmla="val 3030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35000" y="1270000"/>
            <a:ext cx="5397500" cy="508000"/>
          </a:xfrm>
          <a:prstGeom prst="roundRect">
            <a:avLst>
              <a:gd name="adj" fmla="val 2500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87400" y="1270000"/>
            <a:ext cx="514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清华《自然·机器智能》综述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" y="1905000"/>
            <a:ext cx="5080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统一音频表征是攻坚重点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连续表征保细节但难生成，离散表征易建模但损细节。</a:t>
            </a:r>
          </a:p>
          <a:p>
            <a:pPr marL="0" indent="0" algn="l">
              <a:lnSpc>
                <a:spcPct val="112500"/>
              </a:lnSpc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理解与生成协同</a:t>
            </a:r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理解走向因果推理；生成以 LM 规划、扩散合成，追求高保真多风格。</a:t>
            </a:r>
          </a:p>
          <a:p>
            <a:pPr marL="0" indent="0" algn="l">
              <a:lnSpc>
                <a:spcPct val="112500"/>
              </a:lnSpc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全双工与音视频一体</a:t>
            </a:r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“边听边说”支持附和打断；统一认知基座支撑 3D 空间定位推理。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" y="4318000"/>
            <a:ext cx="5080000" cy="660400"/>
          </a:xfrm>
          <a:prstGeom prst="roundRect">
            <a:avLst>
              <a:gd name="adj" fmla="val 11538"/>
            </a:avLst>
          </a:prstGeom>
          <a:solidFill>
            <a:srgbClr val="4472C4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14400" y="4318000"/>
            <a:ext cx="48768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5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启示：音频-视频-3D 应统一建模，把音频作为三维空间推理的一等信号。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86500" y="1270000"/>
            <a:ext cx="5397500" cy="4191000"/>
          </a:xfrm>
          <a:prstGeom prst="roundRect">
            <a:avLst>
              <a:gd name="adj" fmla="val 3030"/>
            </a:avLst>
          </a:prstGeom>
          <a:solidFill>
            <a:srgbClr val="E9EF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286500" y="1270000"/>
            <a:ext cx="5397500" cy="508000"/>
          </a:xfrm>
          <a:prstGeom prst="roundRect">
            <a:avLst>
              <a:gd name="adj" fmla="val 2500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38900" y="1270000"/>
            <a:ext cx="5143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TTS 数据清洗、增强与扩增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64300" y="1905000"/>
            <a:ext cx="5080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12500"/>
              </a:lnSpc>
              <a:defRPr/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目标保持干净干声</a:t>
            </a:r>
            <a:endParaRPr lang="en-US" sz="1100"/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实际目标波形应为干净干声，增广作用在频谱/特征层而非目标音频。</a:t>
            </a:r>
          </a:p>
          <a:p>
            <a:pPr marL="0" indent="0" algn="l">
              <a:lnSpc>
                <a:spcPct val="112500"/>
              </a:lnSpc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主动暴露声学变化</a:t>
            </a:r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可控加噪、混响、遮挡与 SpecAugment，提升真实场景鲁棒性与泛化。</a:t>
            </a:r>
          </a:p>
          <a:p>
            <a:pPr marL="0" indent="0" algn="l">
              <a:lnSpc>
                <a:spcPct val="112500"/>
              </a:lnSpc>
            </a:pPr>
            <a:r>
              <a:rPr lang="en-US" sz="13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减少标注依赖</a:t>
            </a:r>
          </a:p>
          <a:p>
            <a:pPr marL="0" indent="0" algn="l">
              <a:lnSpc>
                <a:spcPct val="112500"/>
              </a:lnSpc>
            </a:pP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自监督学习 + LLM 驱动生成式数据扩增。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464300" y="4318000"/>
            <a:ext cx="5080000" cy="660400"/>
          </a:xfrm>
          <a:prstGeom prst="roundRect">
            <a:avLst>
              <a:gd name="adj" fmla="val 11538"/>
            </a:avLst>
          </a:prstGeom>
          <a:solidFill>
            <a:srgbClr val="4472C4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565900" y="4318000"/>
            <a:ext cx="48768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5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用于京剧：保留干净干声目标下适度降质增强，用合成数据补多流派多板式样本。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46938"/>
            <a:ext cx="12192000" cy="6211062"/>
          </a:xfrm>
          <a:prstGeom prst="roundRect">
            <a:avLst>
              <a:gd name="adj" fmla="val 0"/>
            </a:avLst>
          </a:prstGeom>
          <a:solidFill>
            <a:srgbClr val="DAE3F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4693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152400" dir="5400000" algn="t">
              <a:srgbClr val="DAE3F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1270" y="157480"/>
            <a:ext cx="333248" cy="331851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07416" y="157480"/>
            <a:ext cx="85852" cy="331851"/>
          </a:xfrm>
          <a:prstGeom prst="roundRect">
            <a:avLst>
              <a:gd name="adj" fmla="val 0"/>
            </a:avLst>
          </a:pr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7000"/>
          </a:blip>
          <a:srcRect b="23660"/>
          <a:stretch>
            <a:fillRect/>
          </a:stretch>
        </p:blipFill>
        <p:spPr>
          <a:xfrm>
            <a:off x="0" y="646938"/>
            <a:ext cx="12192000" cy="6211062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042271" y="-531495"/>
            <a:ext cx="2149729" cy="1790573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698500" y="139700"/>
            <a:ext cx="787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横向对比与项目模块映射（分阶段优先级）</a:t>
            </a:r>
            <a:endParaRPr lang="en-US" sz="1100"/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635000" y="1016000"/>
          <a:ext cx="10922000" cy="404622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项目模块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可借鉴工作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关键借鉴点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优先级</a:t>
                      </a:r>
                      <a:endParaRPr lang="en-US" sz="1100"/>
                    </a:p>
                  </a:txBody>
                  <a:tcPr marL="101600" marR="1016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472C4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0386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数据清洗与声源分离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SAM Audio、Mega-ASR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三类提示分离、复杂噪声识别，清理老旧音视频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392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0386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智能编曲与唱腔生成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Shao 1.0、LeVo 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长时统一声学词元、歌词时序绑定、分层结构与审美后训练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392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0386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唱词韵律控制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WordVoice / 5A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五维字级控制、双模型对齐，支撑咬字、板式与口型对齐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0392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0386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数据标注与扩增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WordVoice-5A、TTS 策略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目标波形保持干净、谱特征层扩增，降低标注依赖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7E2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0386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数字人语音与角色演绎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VITA-QinYu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端到端对话、角色音色与唱歌统一建模，弥补固定音色短板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FD5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7E2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03864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视听协同与整体架构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清华听觉智能综述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50" b="0" i="0" u="none" strike="noStrike">
                          <a:solidFill>
                            <a:srgbClr val="1F2329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音频-视频统一表征、全双工交互、3D 视听空间推理框架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9EB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  <a:sym typeface="微软雅黑"/>
                        </a:rPr>
                        <a:t>P2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7D3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AutoShape 10"/>
          <p:cNvSpPr/>
          <p:nvPr/>
        </p:nvSpPr>
        <p:spPr>
          <a:xfrm>
            <a:off x="635000" y="52070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50" b="0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P0 </a:t>
            </a:r>
            <a:r>
              <a:rPr lang="en-US" sz="1150" b="0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可立即进入原型验证</a:t>
            </a:r>
            <a:r>
              <a:rPr lang="en-US" sz="1150" b="0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　|　P1 </a:t>
            </a:r>
            <a:r>
              <a:rPr lang="en-US" sz="1150" b="0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需数据或工程改造</a:t>
            </a:r>
            <a:r>
              <a:rPr lang="en-US" sz="1150" b="0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　|　P2 </a:t>
            </a:r>
            <a:r>
              <a:rPr lang="en-US" sz="1150" b="0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中长期架构参考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46938"/>
            <a:ext cx="12192000" cy="6211062"/>
          </a:xfrm>
          <a:prstGeom prst="roundRect">
            <a:avLst>
              <a:gd name="adj" fmla="val 0"/>
            </a:avLst>
          </a:prstGeom>
          <a:solidFill>
            <a:srgbClr val="DAE3F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46938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152400" dir="5400000" algn="t">
              <a:srgbClr val="DAE3F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1270" y="157480"/>
            <a:ext cx="333248" cy="331851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07416" y="157480"/>
            <a:ext cx="85852" cy="331851"/>
          </a:xfrm>
          <a:prstGeom prst="roundRect">
            <a:avLst>
              <a:gd name="adj" fmla="val 0"/>
            </a:avLst>
          </a:pr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7000"/>
          </a:blip>
          <a:srcRect b="23660"/>
          <a:stretch>
            <a:fillRect/>
          </a:stretch>
        </p:blipFill>
        <p:spPr>
          <a:xfrm>
            <a:off x="0" y="646938"/>
            <a:ext cx="12192000" cy="6211062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042271" y="-531495"/>
            <a:ext cx="2149729" cy="1790573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698500" y="139700"/>
            <a:ext cx="787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03864"/>
                </a:solidFill>
                <a:latin typeface="微软雅黑"/>
                <a:ea typeface="微软雅黑"/>
                <a:cs typeface="微软雅黑"/>
                <a:sym typeface="微软雅黑"/>
              </a:rPr>
              <a:t>重点问题与风险提示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1270000"/>
            <a:ext cx="10922000" cy="787400"/>
          </a:xfrm>
          <a:prstGeom prst="roundRect">
            <a:avLst>
              <a:gd name="adj" fmla="val 12903"/>
            </a:avLst>
          </a:prstGeom>
          <a:solidFill>
            <a:srgbClr val="FCF8F0">
              <a:alpha val="100000"/>
            </a:srgbClr>
          </a:solidFill>
          <a:ln w="12700" cap="flat" cmpd="sng">
            <a:solidFill>
              <a:srgbClr val="E67E2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38200" y="1270000"/>
            <a:ext cx="10541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1350" b="1" i="0" u="none" strike="noStrike">
                <a:solidFill>
                  <a:srgbClr val="C0392B"/>
                </a:solidFill>
                <a:latin typeface="微软雅黑"/>
                <a:ea typeface="微软雅黑"/>
                <a:cs typeface="微软雅黑"/>
                <a:sym typeface="微软雅黑"/>
              </a:rPr>
              <a:t>① 许可证分化</a:t>
            </a: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　LeVo 2、VITA-QinYu、Shao 权重均非商用；SAM Audio 需申请权重访问；WordVoice 与 Mega-ASR 虽为 Apache-2.0，但 WordVoice-5A 数据集另有单独条款——形成产品前须逐项完成许可核查。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" y="2184400"/>
            <a:ext cx="10922000" cy="787400"/>
          </a:xfrm>
          <a:prstGeom prst="roundRect">
            <a:avLst>
              <a:gd name="adj" fmla="val 12903"/>
            </a:avLst>
          </a:prstGeom>
          <a:solidFill>
            <a:srgbClr val="FCF8F0">
              <a:alpha val="100000"/>
            </a:srgbClr>
          </a:solidFill>
          <a:ln w="12700" cap="flat" cmpd="sng">
            <a:solidFill>
              <a:srgbClr val="E67E2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38200" y="2184400"/>
            <a:ext cx="10541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1350" b="1" i="0" u="none" strike="noStrike">
                <a:solidFill>
                  <a:srgbClr val="C0392B"/>
                </a:solidFill>
                <a:latin typeface="微软雅黑"/>
                <a:ea typeface="微软雅黑"/>
                <a:cs typeface="微软雅黑"/>
                <a:sym typeface="微软雅黑"/>
              </a:rPr>
              <a:t>② 京剧领域适配</a:t>
            </a: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　现有模型以普通话、英文或流行音乐为主；京剧的尖团字、上口字、板式与流派韵味需自建语料微调，不能直接套用。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" y="3098800"/>
            <a:ext cx="10922000" cy="787400"/>
          </a:xfrm>
          <a:prstGeom prst="roundRect">
            <a:avLst>
              <a:gd name="adj" fmla="val 12903"/>
            </a:avLst>
          </a:prstGeom>
          <a:solidFill>
            <a:srgbClr val="FCF8F0">
              <a:alpha val="100000"/>
            </a:srgbClr>
          </a:solidFill>
          <a:ln w="12700" cap="flat" cmpd="sng">
            <a:solidFill>
              <a:srgbClr val="E67E2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38200" y="3098800"/>
            <a:ext cx="10541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1350" b="1" i="0" u="none" strike="noStrike">
                <a:solidFill>
                  <a:srgbClr val="C0392B"/>
                </a:solidFill>
                <a:latin typeface="微软雅黑"/>
                <a:ea typeface="微软雅黑"/>
                <a:cs typeface="微软雅黑"/>
                <a:sym typeface="微软雅黑"/>
              </a:rPr>
              <a:t>③ 权重与代码不完整</a:t>
            </a: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　VITA-QinYu 唱歌权重未开放；Mega-ASR 强化学习代码待发布；部分项目依赖环境敏感，需严格按官方容器/版本复现。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5000" y="4013200"/>
            <a:ext cx="10922000" cy="787400"/>
          </a:xfrm>
          <a:prstGeom prst="roundRect">
            <a:avLst>
              <a:gd name="adj" fmla="val 12903"/>
            </a:avLst>
          </a:prstGeom>
          <a:solidFill>
            <a:srgbClr val="FCF8F0">
              <a:alpha val="100000"/>
            </a:srgbClr>
          </a:solidFill>
          <a:ln w="12700" cap="flat" cmpd="sng">
            <a:solidFill>
              <a:srgbClr val="E67E2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838200" y="4013200"/>
            <a:ext cx="10541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1350" b="1" i="0" u="none" strike="noStrike">
                <a:solidFill>
                  <a:srgbClr val="C0392B"/>
                </a:solidFill>
                <a:latin typeface="微软雅黑"/>
                <a:ea typeface="微软雅黑"/>
                <a:cs typeface="微软雅黑"/>
                <a:sym typeface="微软雅黑"/>
              </a:rPr>
              <a:t>④ 硬件门槛</a:t>
            </a: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　Shao 需 24GB 以上显存；LeVo 2 中型约 12GB、大型约 22GB；端到端语音模型全双工部署还需叠加多个依赖模型。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" y="4927600"/>
            <a:ext cx="10922000" cy="787400"/>
          </a:xfrm>
          <a:prstGeom prst="roundRect">
            <a:avLst>
              <a:gd name="adj" fmla="val 12903"/>
            </a:avLst>
          </a:prstGeom>
          <a:solidFill>
            <a:srgbClr val="EEF6E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38200" y="4927600"/>
            <a:ext cx="10541000" cy="787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166"/>
              </a:lnSpc>
              <a:defRPr/>
            </a:pPr>
            <a:r>
              <a:rPr lang="en-US" sz="1350" b="1" i="0" u="none" strike="noStrike">
                <a:solidFill>
                  <a:srgbClr val="2E7D32"/>
                </a:solidFill>
                <a:latin typeface="微软雅黑"/>
                <a:ea typeface="微软雅黑"/>
                <a:cs typeface="微软雅黑"/>
                <a:sym typeface="微软雅黑"/>
              </a:rPr>
              <a:t>⑤ 数字人三维缺口</a:t>
            </a:r>
            <a:r>
              <a:rPr lang="en-US" sz="12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　本轮文献不覆盖三维人体参数估计、动作生成与神经渲染；需另行专项调研 SMPL-X、语音驱动动作生成与可动画数字人重建。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46955"/>
            <a:ext cx="12192000" cy="6211045"/>
          </a:xfrm>
          <a:prstGeom prst="roundRect">
            <a:avLst>
              <a:gd name="adj" fmla="val 0"/>
            </a:avLst>
          </a:prstGeom>
          <a:solidFill>
            <a:srgbClr val="DAE3F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2192000" cy="646955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152400" dir="5400000" algn="t">
              <a:srgbClr val="DAE3F3">
                <a:alpha val="20000"/>
              </a:srgbClr>
            </a:outerShdw>
          </a:effectLst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-1316" y="157544"/>
            <a:ext cx="333206" cy="331866"/>
          </a:xfrm>
          <a:prstGeom prst="roundRect">
            <a:avLst>
              <a:gd name="adj" fmla="val 0"/>
            </a:avLst>
          </a:prstGeom>
          <a:solidFill>
            <a:srgbClr val="4472C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407356" y="157544"/>
            <a:ext cx="85792" cy="331866"/>
          </a:xfrm>
          <a:prstGeom prst="roundRect">
            <a:avLst>
              <a:gd name="adj" fmla="val 0"/>
            </a:avLst>
          </a:prstGeom>
          <a:solidFill>
            <a:srgbClr val="A5A5A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alphaModFix amt="7000"/>
          </a:blip>
          <a:srcRect b="23661"/>
          <a:stretch>
            <a:fillRect/>
          </a:stretch>
        </p:blipFill>
        <p:spPr>
          <a:xfrm>
            <a:off x="0" y="646955"/>
            <a:ext cx="12192000" cy="621104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042234" y="-531440"/>
            <a:ext cx="2149766" cy="1790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2680063" y="2808235"/>
            <a:ext cx="6831874" cy="7694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t" anchorCtr="0"/>
          <a:lstStyle/>
          <a:p>
            <a:pPr marL="0" indent="0" algn="ctr" defTabSz="914400">
              <a:lnSpc>
                <a:spcPct val="100000"/>
              </a:lnSpc>
              <a:defRPr/>
            </a:pPr>
            <a:r>
              <a:rPr lang="en-US" sz="4400" b="0" i="0" u="none" strike="noStrike" dirty="0" err="1">
                <a:solidFill>
                  <a:srgbClr val="000000"/>
                </a:solidFill>
                <a:latin typeface="方正小标宋简体"/>
                <a:ea typeface="方正小标宋简体"/>
                <a:cs typeface="方正小标宋简体"/>
                <a:sym typeface="方正小标宋简体"/>
              </a:rPr>
              <a:t>谢谢聆听</a:t>
            </a:r>
            <a:r>
              <a:rPr lang="en-US" sz="4400" b="0" i="0" u="none" strike="noStrike" dirty="0">
                <a:solidFill>
                  <a:srgbClr val="000000"/>
                </a:solidFill>
                <a:latin typeface="方正小标宋简体"/>
                <a:ea typeface="方正小标宋简体"/>
                <a:cs typeface="方正小标宋简体"/>
                <a:sym typeface="方正小标宋简体"/>
              </a:rPr>
              <a:t>   </a:t>
            </a:r>
            <a:r>
              <a:rPr lang="en-US" sz="4400" b="0" i="0" u="none" strike="noStrike" dirty="0" err="1">
                <a:solidFill>
                  <a:srgbClr val="000000"/>
                </a:solidFill>
                <a:latin typeface="方正小标宋简体"/>
                <a:ea typeface="方正小标宋简体"/>
                <a:cs typeface="方正小标宋简体"/>
                <a:sym typeface="方正小标宋简体"/>
              </a:rPr>
              <a:t>敬请指正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0" y="0"/>
            <a:ext cx="12192000" cy="646331"/>
          </a:xfrm>
          <a:prstGeom prst="roundRect">
            <a:avLst>
              <a:gd name="adj" fmla="val 0"/>
            </a:avLst>
          </a:prstGeom>
          <a:solidFill>
            <a:srgbClr val="F2F8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1072</Words>
  <Application>Microsoft Office PowerPoint</Application>
  <PresentationFormat>宽屏</PresentationFormat>
  <Paragraphs>189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Noto Sans SC</vt:lpstr>
      <vt:lpstr>等线</vt:lpstr>
      <vt:lpstr>等线 Light</vt:lpstr>
      <vt:lpstr>方正小标宋简体</vt:lpstr>
      <vt:lpstr>华康俪金黑W8(P)</vt:lpstr>
      <vt:lpstr>微软雅黑</vt:lpstr>
      <vt:lpstr>Arial</vt:lpstr>
      <vt:lpstr>Office 主题​​</vt:lpstr>
      <vt:lpstr>自定义主题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董文政</dc:creator>
  <cp:lastModifiedBy>文政 董</cp:lastModifiedBy>
  <cp:revision>4</cp:revision>
  <dcterms:modified xsi:type="dcterms:W3CDTF">2026-09-23T08:21:47Z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{"Label":"1","ContentProducer":"001191110102MACQD9K64010000","ProduceID":"7688642241032031515","ReservedCode1":"","ContentPropagator":"","PropagateID":"","ReservedCode2":""}</vt:lpwstr>
  </property>
</Properties>
</file>